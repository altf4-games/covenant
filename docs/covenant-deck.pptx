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tokenized stock trades straight through the weekend, priced off a reference that may not have updated in two days. Now put an AI agent in charge of that trade. What stops it from doing something you never allowed? I built Covenant to answer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Binance's market-status endpoint says bStocks are trading around the clock, and the reference price is empty for all 46 of them. So the agent has no way to know the NYSE is shut, and nothing in the wallet's own limits looks at market session or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Covenant is one contract on BNB Smart Chain. The owner sets a mandate: which stocks, by exact address, how many dollars per trade and per day, a slippage limit, a position cap, and how far from Friday's close a stock may trade while the NYSE is shut. Before every trade, the agent, a Binance Agentic Wallet, commits it to the contract. The contract decides, allowed or denied, and records it either way. Then the wallet trades natively and settles the real fill back on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checks, and each one has its own monster in the app. Each denial has its own reason, and the contract records the refusal rather than reverting, so even a denial leaves a trace.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Switch to the browser here and open covenant-eight-self.vercel.app. Press WATCH THE 5 TRADES. Let one allowed battle play, then the forty-cent buy: the Spending Cap monster wins, NotionalExceeded, trade blocked. Narration: This is the real ledger from mainnet, played as a little town. Each shop is a token. Every trade is a battle against the rules. This one follows them and goes through. This one tries a buy of forty cents against a twenty-five cent cap, and the Spending Cap monster blocks it. Your money stays safe. The page ships a snapshot of the chain because free RPCs only keep a few days of logs, and the Load button re-reads it live. When the replay ends, come back to this deck at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deployed and verified on BscScan. Five decisions in total: two settled trades, two denials, and one I'll come back to. Anyone can check this without trusting me: judge re-reads each transaction from chain and decodes it, eight of 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is the stronger check. It reads every transfer in and out of the agent's wallet and matches each trade to an approved, settled decision. Two trades match. One doesn't. That one is my own mistake, and I left it in. My first script looked up a swap by the order id Binance returned, but the order list never found that id. It assumed the swap hadn't happened and cancelled the decision. The swap had filled. A cancelled decision can't be settled, so that trade is flagged forever. That is the system doing its job: a trade with no approved decision shows up for anyone.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kept a log of everything that broke on the Binance side: bStock reference prices that are empty for all 46 tokens, a market status that says trading while the NYSE is closed, and that order id. That went into my developer experience report. The code has 277 tests, and the live ones found real bugs, like a router call that compiled but reverted on the first real swap.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had two dollars, so mainnet has five decisions. Every kind of outcome is in them. Everything is in the repo and the app is live. Covenant: no trade happens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WORLD_A-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WORLD_B-image-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WORLD_C-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WORLD_A">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WORLD_B">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WORLD_C">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image" Target="../media/image-4-11.png"/><Relationship Id="rId12" Type="http://schemas.openxmlformats.org/officeDocument/2006/relationships/image" Target="../media/image-4-12.png"/><Relationship Id="rId13" Type="http://schemas.openxmlformats.org/officeDocument/2006/relationships/slideLayout" Target="../slideLayouts/slideLayout2.xml"/><Relationship Id="rId1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4.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slideLayout" Target="../slideLayouts/slideLayout2.xml"/><Relationship Id="rId6"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4.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anel shadow"/>
          <p:cNvSpPr/>
          <p:nvPr/>
        </p:nvSpPr>
        <p:spPr>
          <a:xfrm>
            <a:off x="822960" y="896112"/>
            <a:ext cx="6766560" cy="3017520"/>
          </a:xfrm>
          <a:prstGeom prst="roundRect">
            <a:avLst>
              <a:gd name="adj" fmla="val 3030"/>
            </a:avLst>
          </a:prstGeom>
          <a:solidFill>
            <a:srgbClr val="1E293B"/>
          </a:solidFill>
          <a:ln w="12700">
            <a:solidFill>
              <a:srgbClr val="1E293B"/>
            </a:solidFill>
            <a:prstDash val="solid"/>
          </a:ln>
        </p:spPr>
      </p:sp>
      <p:sp>
        <p:nvSpPr>
          <p:cNvPr id="3" name="title panel"/>
          <p:cNvSpPr/>
          <p:nvPr/>
        </p:nvSpPr>
        <p:spPr>
          <a:xfrm>
            <a:off x="822960" y="822960"/>
            <a:ext cx="6766560" cy="3017520"/>
          </a:xfrm>
          <a:prstGeom prst="roundRect">
            <a:avLst>
              <a:gd name="adj" fmla="val 3030"/>
            </a:avLst>
          </a:prstGeom>
          <a:solidFill>
            <a:srgbClr val="FFFDF3"/>
          </a:solidFill>
          <a:ln w="38100">
            <a:solidFill>
              <a:srgbClr val="1E293B"/>
            </a:solidFill>
            <a:prstDash val="solid"/>
          </a:ln>
        </p:spPr>
      </p:sp>
      <p:sp>
        <p:nvSpPr>
          <p:cNvPr id="4" name="title panel inner rule"/>
          <p:cNvSpPr/>
          <p:nvPr/>
        </p:nvSpPr>
        <p:spPr>
          <a:xfrm>
            <a:off x="886968" y="886968"/>
            <a:ext cx="6638544" cy="2889504"/>
          </a:xfrm>
          <a:prstGeom prst="roundRect">
            <a:avLst>
              <a:gd name="adj" fmla="val 2215"/>
            </a:avLst>
          </a:prstGeom>
          <a:ln w="12700">
            <a:solidFill>
              <a:srgbClr val="CBD5E1"/>
            </a:solidFill>
            <a:prstDash val="solid"/>
          </a:ln>
        </p:spPr>
      </p:sp>
      <p:pic>
        <p:nvPicPr>
          <p:cNvPr id="5" name="Image 0" descr="Covenant">    </p:cNvPr>
          <p:cNvPicPr>
            <a:picLocks noChangeAspect="1"/>
          </p:cNvPicPr>
          <p:nvPr/>
        </p:nvPicPr>
        <p:blipFill>
          <a:blip r:embed="rId1"/>
          <a:stretch>
            <a:fillRect/>
          </a:stretch>
        </p:blipFill>
        <p:spPr>
          <a:xfrm>
            <a:off x="1234440" y="1234440"/>
            <a:ext cx="5735117" cy="716890"/>
          </a:xfrm>
          <a:prstGeom prst="rect">
            <a:avLst/>
          </a:prstGeom>
        </p:spPr>
      </p:pic>
      <p:sp>
        <p:nvSpPr>
          <p:cNvPr id="6" name="Text 3"/>
          <p:cNvSpPr txBox="1"/>
          <p:nvPr/>
        </p:nvSpPr>
        <p:spPr>
          <a:xfrm>
            <a:off x="1234440" y="2331720"/>
            <a:ext cx="5943600" cy="822960"/>
          </a:xfrm>
          <a:prstGeom prst="rect">
            <a:avLst/>
          </a:prstGeom>
          <a:noFill/>
          <a:ln/>
        </p:spPr>
        <p:txBody>
          <a:bodyPr wrap="square" lIns="0" tIns="0" rIns="0" bIns="0" rtlCol="0" anchor="t"/>
          <a:lstStyle/>
          <a:p>
            <a:pPr indent="0" marL="0">
              <a:buNone/>
            </a:pPr>
            <a:r>
              <a:rPr lang="en-US" sz="2100" b="1" dirty="0">
                <a:solidFill>
                  <a:srgbClr val="1E293B"/>
                </a:solidFill>
                <a:latin typeface="Calibri" pitchFamily="34" charset="0"/>
                <a:ea typeface="Calibri" pitchFamily="34" charset="-122"/>
                <a:cs typeface="Calibri" pitchFamily="34" charset="-120"/>
              </a:rPr>
              <a:t>An on-chain decision ledger for AI agents that trade tokenized stocks.</a:t>
            </a:r>
            <a:endParaRPr lang="en-US" sz="2100" dirty="0"/>
          </a:p>
        </p:txBody>
      </p:sp>
      <p:sp>
        <p:nvSpPr>
          <p:cNvPr id="7" name="Text 4"/>
          <p:cNvSpPr txBox="1"/>
          <p:nvPr/>
        </p:nvSpPr>
        <p:spPr>
          <a:xfrm>
            <a:off x="1234440" y="3154680"/>
            <a:ext cx="5943600" cy="457200"/>
          </a:xfrm>
          <a:prstGeom prst="rect">
            <a:avLst/>
          </a:prstGeom>
          <a:noFill/>
          <a:ln/>
        </p:spPr>
        <p:txBody>
          <a:bodyPr wrap="square" lIns="0" tIns="0" rIns="0" bIns="0" rtlCol="0" anchor="t"/>
          <a:lstStyle/>
          <a:p>
            <a:pPr indent="0" marL="0">
              <a:buNone/>
            </a:pPr>
            <a:r>
              <a:rPr lang="en-US" sz="1800" i="1" dirty="0">
                <a:solidFill>
                  <a:srgbClr val="64748B"/>
                </a:solidFill>
                <a:latin typeface="Calibri" pitchFamily="34" charset="0"/>
                <a:ea typeface="Calibri" pitchFamily="34" charset="-122"/>
                <a:cs typeface="Calibri" pitchFamily="34" charset="-120"/>
              </a:rPr>
              <a:t>No trade happens unseen.</a:t>
            </a:r>
            <a:endParaRPr lang="en-US" sz="1800" dirty="0"/>
          </a:p>
        </p:txBody>
      </p:sp>
      <p:sp>
        <p:nvSpPr>
          <p:cNvPr id="8" name="platform"/>
          <p:cNvSpPr/>
          <p:nvPr/>
        </p:nvSpPr>
        <p:spPr>
          <a:xfrm>
            <a:off x="8138160" y="2514600"/>
            <a:ext cx="1737360" cy="486461"/>
          </a:xfrm>
          <a:prstGeom prst="ellipse">
            <a:avLst/>
          </a:prstGeom>
          <a:solidFill>
            <a:srgbClr val="5FA05A"/>
          </a:solidFill>
          <a:ln w="19050">
            <a:solidFill>
              <a:srgbClr val="3F7D3A"/>
            </a:solidFill>
            <a:prstDash val="solid"/>
          </a:ln>
        </p:spPr>
      </p:sp>
      <p:sp>
        <p:nvSpPr>
          <p:cNvPr id="9" name="platform"/>
          <p:cNvSpPr/>
          <p:nvPr/>
        </p:nvSpPr>
        <p:spPr>
          <a:xfrm>
            <a:off x="10012680" y="2514600"/>
            <a:ext cx="1737360" cy="486461"/>
          </a:xfrm>
          <a:prstGeom prst="ellipse">
            <a:avLst/>
          </a:prstGeom>
          <a:solidFill>
            <a:srgbClr val="5FA05A"/>
          </a:solidFill>
          <a:ln w="19050">
            <a:solidFill>
              <a:srgbClr val="3F7D3A"/>
            </a:solidFill>
            <a:prstDash val="solid"/>
          </a:ln>
        </p:spPr>
      </p:sp>
      <p:pic>
        <p:nvPicPr>
          <p:cNvPr id="10" name="Image 1" descr="The agent, a pixel hero">    </p:cNvPr>
          <p:cNvPicPr>
            <a:picLocks noChangeAspect="1"/>
          </p:cNvPicPr>
          <p:nvPr/>
        </p:nvPicPr>
        <p:blipFill>
          <a:blip r:embed="rId2"/>
          <a:stretch>
            <a:fillRect/>
          </a:stretch>
        </p:blipFill>
        <p:spPr>
          <a:xfrm>
            <a:off x="8275320" y="914400"/>
            <a:ext cx="1508760" cy="1508760"/>
          </a:xfrm>
          <a:prstGeom prst="rect">
            <a:avLst/>
          </a:prstGeom>
        </p:spPr>
      </p:pic>
      <p:pic>
        <p:nvPicPr>
          <p:cNvPr id="11" name="Image 2" descr="The Rule Checker, a pixel knight">    </p:cNvPr>
          <p:cNvPicPr>
            <a:picLocks noChangeAspect="1"/>
          </p:cNvPicPr>
          <p:nvPr/>
        </p:nvPicPr>
        <p:blipFill>
          <a:blip r:embed="rId3"/>
          <a:stretch>
            <a:fillRect/>
          </a:stretch>
        </p:blipFill>
        <p:spPr>
          <a:xfrm>
            <a:off x="10149840" y="914400"/>
            <a:ext cx="1508760" cy="1508760"/>
          </a:xfrm>
          <a:prstGeom prst="rect">
            <a:avLst/>
          </a:prstGeom>
        </p:spPr>
      </p:pic>
      <p:pic>
        <p:nvPicPr>
          <p:cNvPr id="12" name="Image 3" descr="Press start">    </p:cNvPr>
          <p:cNvPicPr>
            <a:picLocks noChangeAspect="1"/>
          </p:cNvPicPr>
          <p:nvPr/>
        </p:nvPicPr>
        <p:blipFill>
          <a:blip r:embed="rId4"/>
          <a:stretch>
            <a:fillRect/>
          </a:stretch>
        </p:blipFill>
        <p:spPr>
          <a:xfrm>
            <a:off x="8229600" y="3291840"/>
            <a:ext cx="3255264" cy="329184"/>
          </a:xfrm>
          <a:prstGeom prst="rect">
            <a:avLst/>
          </a:prstGeom>
        </p:spPr>
      </p:pic>
      <p:sp>
        <p:nvSpPr>
          <p:cNvPr id="13" name="links panel shadow"/>
          <p:cNvSpPr/>
          <p:nvPr/>
        </p:nvSpPr>
        <p:spPr>
          <a:xfrm>
            <a:off x="822960" y="4325112"/>
            <a:ext cx="6766560" cy="1783080"/>
          </a:xfrm>
          <a:prstGeom prst="roundRect">
            <a:avLst>
              <a:gd name="adj" fmla="val 5128"/>
            </a:avLst>
          </a:prstGeom>
          <a:solidFill>
            <a:srgbClr val="1E293B"/>
          </a:solidFill>
          <a:ln w="12700">
            <a:solidFill>
              <a:srgbClr val="1E293B"/>
            </a:solidFill>
            <a:prstDash val="solid"/>
          </a:ln>
        </p:spPr>
      </p:sp>
      <p:sp>
        <p:nvSpPr>
          <p:cNvPr id="14" name="links panel"/>
          <p:cNvSpPr/>
          <p:nvPr/>
        </p:nvSpPr>
        <p:spPr>
          <a:xfrm>
            <a:off x="822960" y="4251960"/>
            <a:ext cx="6766560" cy="1783080"/>
          </a:xfrm>
          <a:prstGeom prst="roundRect">
            <a:avLst>
              <a:gd name="adj" fmla="val 5128"/>
            </a:avLst>
          </a:prstGeom>
          <a:solidFill>
            <a:srgbClr val="FFFDF3"/>
          </a:solidFill>
          <a:ln w="38100">
            <a:solidFill>
              <a:srgbClr val="1E293B"/>
            </a:solidFill>
            <a:prstDash val="solid"/>
          </a:ln>
        </p:spPr>
      </p:sp>
      <p:sp>
        <p:nvSpPr>
          <p:cNvPr id="15" name="links panel inner rule"/>
          <p:cNvSpPr/>
          <p:nvPr/>
        </p:nvSpPr>
        <p:spPr>
          <a:xfrm>
            <a:off x="886968" y="4315968"/>
            <a:ext cx="6638544" cy="1655064"/>
          </a:xfrm>
          <a:prstGeom prst="roundRect">
            <a:avLst>
              <a:gd name="adj" fmla="val 3867"/>
            </a:avLst>
          </a:prstGeom>
          <a:ln w="12700">
            <a:solidFill>
              <a:srgbClr val="CBD5E1"/>
            </a:solidFill>
            <a:prstDash val="solid"/>
          </a:ln>
        </p:spPr>
      </p:sp>
      <p:sp>
        <p:nvSpPr>
          <p:cNvPr id="16" name="Text 10"/>
          <p:cNvSpPr txBox="1"/>
          <p:nvPr/>
        </p:nvSpPr>
        <p:spPr>
          <a:xfrm>
            <a:off x="1234440" y="4526280"/>
            <a:ext cx="6035040" cy="1280160"/>
          </a:xfrm>
          <a:prstGeom prst="rect">
            <a:avLst/>
          </a:prstGeom>
          <a:noFill/>
          <a:ln/>
        </p:spPr>
        <p:txBody>
          <a:bodyPr wrap="square" lIns="0" tIns="0" rIns="0" bIns="0" rtlCol="0" anchor="t"/>
          <a:lstStyle/>
          <a:p>
            <a:pPr indent="0" marL="0">
              <a:spcAft>
                <a:spcPts val="800"/>
              </a:spcAft>
              <a:buNone/>
            </a:pPr>
            <a:r>
              <a:rPr lang="en-US" sz="1700" dirty="0">
                <a:solidFill>
                  <a:srgbClr val="64748B"/>
                </a:solidFill>
                <a:latin typeface="Calibri" pitchFamily="34" charset="0"/>
                <a:ea typeface="Calibri" pitchFamily="34" charset="-122"/>
                <a:cs typeface="Calibri" pitchFamily="34" charset="-120"/>
              </a:rPr>
              <a:t>Live app   </a:t>
            </a:r>
            <a:pPr indent="0" marL="0">
              <a:spcAft>
                <a:spcPts val="800"/>
              </a:spcAft>
              <a:buNone/>
            </a:pPr>
            <a:r>
              <a:rPr lang="en-US" sz="1700" b="1" dirty="0">
                <a:solidFill>
                  <a:srgbClr val="1E293B"/>
                </a:solidFill>
                <a:latin typeface="Calibri" pitchFamily="34" charset="0"/>
                <a:ea typeface="Calibri" pitchFamily="34" charset="-122"/>
                <a:cs typeface="Calibri" pitchFamily="34" charset="-120"/>
              </a:rPr>
              <a:t>covenant-eight-self.vercel.app</a:t>
            </a:r>
            <a:endParaRPr lang="en-US" sz="1700" dirty="0"/>
          </a:p>
          <a:p>
            <a:pPr indent="0" marL="0">
              <a:spcAft>
                <a:spcPts val="800"/>
              </a:spcAft>
              <a:buNone/>
            </a:pPr>
            <a:r>
              <a:rPr lang="en-US" sz="1700" dirty="0">
                <a:solidFill>
                  <a:srgbClr val="64748B"/>
                </a:solidFill>
                <a:latin typeface="Calibri" pitchFamily="34" charset="0"/>
                <a:ea typeface="Calibri" pitchFamily="34" charset="-122"/>
                <a:cs typeface="Calibri" pitchFamily="34" charset="-120"/>
              </a:rPr>
              <a:t>Repo        </a:t>
            </a:r>
            <a:pPr indent="0" marL="0">
              <a:spcAft>
                <a:spcPts val="800"/>
              </a:spcAft>
              <a:buNone/>
            </a:pPr>
            <a:r>
              <a:rPr lang="en-US" sz="1700" b="1" dirty="0">
                <a:solidFill>
                  <a:srgbClr val="1E293B"/>
                </a:solidFill>
                <a:latin typeface="Calibri" pitchFamily="34" charset="0"/>
                <a:ea typeface="Calibri" pitchFamily="34" charset="-122"/>
                <a:cs typeface="Calibri" pitchFamily="34" charset="-120"/>
              </a:rPr>
              <a:t>github.com/altf4-games/Covenant</a:t>
            </a:r>
            <a:endParaRPr lang="en-US" sz="1700" dirty="0"/>
          </a:p>
          <a:p>
            <a:pPr indent="0" marL="0">
              <a:spcAft>
                <a:spcPts val="800"/>
              </a:spcAft>
              <a:buNone/>
            </a:pPr>
            <a:r>
              <a:rPr lang="en-US" sz="1700" dirty="0">
                <a:solidFill>
                  <a:srgbClr val="64748B"/>
                </a:solidFill>
                <a:latin typeface="Calibri" pitchFamily="34" charset="0"/>
                <a:ea typeface="Calibri" pitchFamily="34" charset="-122"/>
                <a:cs typeface="Calibri" pitchFamily="34" charset="-120"/>
              </a:rPr>
              <a:t>Chain       </a:t>
            </a:r>
            <a:pPr indent="0" marL="0">
              <a:spcAft>
                <a:spcPts val="800"/>
              </a:spcAft>
              <a:buNone/>
            </a:pPr>
            <a:r>
              <a:rPr lang="en-US" sz="1700" b="1" dirty="0">
                <a:solidFill>
                  <a:srgbClr val="1E293B"/>
                </a:solidFill>
                <a:latin typeface="Calibri" pitchFamily="34" charset="0"/>
                <a:ea typeface="Calibri" pitchFamily="34" charset="-122"/>
                <a:cs typeface="Calibri" pitchFamily="34" charset="-120"/>
              </a:rPr>
              <a:t>BNB Smart Chain mainnet, source verified</a:t>
            </a:r>
            <a:endParaRPr lang="en-US" sz="1700" dirty="0"/>
          </a:p>
        </p:txBody>
      </p:sp>
      <p:sp>
        <p:nvSpPr>
          <p:cNvPr id="17" name="hackathon panel shadow"/>
          <p:cNvSpPr/>
          <p:nvPr/>
        </p:nvSpPr>
        <p:spPr>
          <a:xfrm>
            <a:off x="8138160" y="4325112"/>
            <a:ext cx="3611880" cy="1783080"/>
          </a:xfrm>
          <a:prstGeom prst="roundRect">
            <a:avLst>
              <a:gd name="adj" fmla="val 5128"/>
            </a:avLst>
          </a:prstGeom>
          <a:solidFill>
            <a:srgbClr val="1E293B"/>
          </a:solidFill>
          <a:ln w="12700">
            <a:solidFill>
              <a:srgbClr val="1E293B"/>
            </a:solidFill>
            <a:prstDash val="solid"/>
          </a:ln>
        </p:spPr>
      </p:sp>
      <p:sp>
        <p:nvSpPr>
          <p:cNvPr id="18" name="hackathon panel"/>
          <p:cNvSpPr/>
          <p:nvPr/>
        </p:nvSpPr>
        <p:spPr>
          <a:xfrm>
            <a:off x="8138160" y="4251960"/>
            <a:ext cx="3611880" cy="1783080"/>
          </a:xfrm>
          <a:prstGeom prst="roundRect">
            <a:avLst>
              <a:gd name="adj" fmla="val 5128"/>
            </a:avLst>
          </a:prstGeom>
          <a:solidFill>
            <a:srgbClr val="FFFDF3"/>
          </a:solidFill>
          <a:ln w="38100">
            <a:solidFill>
              <a:srgbClr val="1E293B"/>
            </a:solidFill>
            <a:prstDash val="solid"/>
          </a:ln>
        </p:spPr>
      </p:sp>
      <p:sp>
        <p:nvSpPr>
          <p:cNvPr id="19" name="hackathon panel inner rule"/>
          <p:cNvSpPr/>
          <p:nvPr/>
        </p:nvSpPr>
        <p:spPr>
          <a:xfrm>
            <a:off x="8202168" y="4315968"/>
            <a:ext cx="3483864" cy="1655064"/>
          </a:xfrm>
          <a:prstGeom prst="roundRect">
            <a:avLst>
              <a:gd name="adj" fmla="val 3867"/>
            </a:avLst>
          </a:prstGeom>
          <a:ln w="12700">
            <a:solidFill>
              <a:srgbClr val="CBD5E1"/>
            </a:solidFill>
            <a:prstDash val="solid"/>
          </a:ln>
        </p:spPr>
      </p:sp>
      <p:sp>
        <p:nvSpPr>
          <p:cNvPr id="20" name="Text 14"/>
          <p:cNvSpPr txBox="1"/>
          <p:nvPr/>
        </p:nvSpPr>
        <p:spPr>
          <a:xfrm>
            <a:off x="8366760" y="4709160"/>
            <a:ext cx="3200400" cy="1097280"/>
          </a:xfrm>
          <a:prstGeom prst="rect">
            <a:avLst/>
          </a:prstGeom>
          <a:noFill/>
          <a:ln/>
        </p:spPr>
        <p:txBody>
          <a:bodyPr wrap="square" lIns="0" tIns="0" rIns="0" bIns="0" rtlCol="0" anchor="ctr"/>
          <a:lstStyle/>
          <a:p>
            <a:pPr algn="ctr" indent="0" marL="0">
              <a:buNone/>
            </a:pPr>
            <a:r>
              <a:rPr lang="en-US" sz="2000" b="1" dirty="0">
                <a:solidFill>
                  <a:srgbClr val="1E293B"/>
                </a:solidFill>
                <a:latin typeface="Calibri" pitchFamily="34" charset="0"/>
                <a:ea typeface="Calibri" pitchFamily="34" charset="-122"/>
                <a:cs typeface="Calibri" pitchFamily="34" charset="-120"/>
              </a:rPr>
              <a:t>BNB Hack:</a:t>
            </a:r>
            <a:endParaRPr lang="en-US" sz="2000" dirty="0"/>
          </a:p>
          <a:p>
            <a:pPr algn="ctr" indent="0" marL="0">
              <a:buNone/>
            </a:pPr>
            <a:r>
              <a:rPr lang="en-US" sz="2000" b="1" dirty="0">
                <a:solidFill>
                  <a:srgbClr val="1E293B"/>
                </a:solidFill>
                <a:latin typeface="Calibri" pitchFamily="34" charset="0"/>
                <a:ea typeface="Calibri" pitchFamily="34" charset="-122"/>
                <a:cs typeface="Calibri" pitchFamily="34" charset="-120"/>
              </a:rPr>
              <a:t>Tokenized Stocks Edition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banner shadow"/>
          <p:cNvSpPr/>
          <p:nvPr/>
        </p:nvSpPr>
        <p:spPr>
          <a:xfrm>
            <a:off x="822960" y="713232"/>
            <a:ext cx="475488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475488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4626864" cy="740664"/>
          </a:xfrm>
          <a:prstGeom prst="roundRect">
            <a:avLst>
              <a:gd name="adj" fmla="val 8642"/>
            </a:avLst>
          </a:prstGeom>
          <a:ln w="12700">
            <a:solidFill>
              <a:srgbClr val="CBD5E1"/>
            </a:solidFill>
            <a:prstDash val="solid"/>
          </a:ln>
        </p:spPr>
      </p:sp>
      <p:pic>
        <p:nvPicPr>
          <p:cNvPr id="5" name="Image 0" descr="The problem">    </p:cNvPr>
          <p:cNvPicPr>
            <a:picLocks noChangeAspect="1"/>
          </p:cNvPicPr>
          <p:nvPr/>
        </p:nvPicPr>
        <p:blipFill>
          <a:blip r:embed="rId1"/>
          <a:stretch>
            <a:fillRect/>
          </a:stretch>
        </p:blipFill>
        <p:spPr>
          <a:xfrm>
            <a:off x="1188720" y="891540"/>
            <a:ext cx="4023360" cy="365760"/>
          </a:xfrm>
          <a:prstGeom prst="rect">
            <a:avLst/>
          </a:prstGeom>
        </p:spPr>
      </p:pic>
      <p:sp>
        <p:nvSpPr>
          <p:cNvPr id="6" name="stat panel shadow"/>
          <p:cNvSpPr/>
          <p:nvPr/>
        </p:nvSpPr>
        <p:spPr>
          <a:xfrm>
            <a:off x="822960" y="1856232"/>
            <a:ext cx="4754880" cy="4251960"/>
          </a:xfrm>
          <a:prstGeom prst="roundRect">
            <a:avLst>
              <a:gd name="adj" fmla="val 2151"/>
            </a:avLst>
          </a:prstGeom>
          <a:solidFill>
            <a:srgbClr val="1E293B"/>
          </a:solidFill>
          <a:ln w="12700">
            <a:solidFill>
              <a:srgbClr val="1E293B"/>
            </a:solidFill>
            <a:prstDash val="solid"/>
          </a:ln>
        </p:spPr>
      </p:sp>
      <p:sp>
        <p:nvSpPr>
          <p:cNvPr id="7" name="stat panel"/>
          <p:cNvSpPr/>
          <p:nvPr/>
        </p:nvSpPr>
        <p:spPr>
          <a:xfrm>
            <a:off x="822960" y="1783080"/>
            <a:ext cx="4754880" cy="4251960"/>
          </a:xfrm>
          <a:prstGeom prst="roundRect">
            <a:avLst>
              <a:gd name="adj" fmla="val 2151"/>
            </a:avLst>
          </a:prstGeom>
          <a:solidFill>
            <a:srgbClr val="FFFDF3"/>
          </a:solidFill>
          <a:ln w="38100">
            <a:solidFill>
              <a:srgbClr val="1E293B"/>
            </a:solidFill>
            <a:prstDash val="solid"/>
          </a:ln>
        </p:spPr>
      </p:sp>
      <p:sp>
        <p:nvSpPr>
          <p:cNvPr id="8" name="stat panel inner rule"/>
          <p:cNvSpPr/>
          <p:nvPr/>
        </p:nvSpPr>
        <p:spPr>
          <a:xfrm>
            <a:off x="886968" y="1847088"/>
            <a:ext cx="4626864" cy="4123944"/>
          </a:xfrm>
          <a:prstGeom prst="roundRect">
            <a:avLst>
              <a:gd name="adj" fmla="val 1552"/>
            </a:avLst>
          </a:prstGeom>
          <a:ln w="12700">
            <a:solidFill>
              <a:srgbClr val="CBD5E1"/>
            </a:solidFill>
            <a:prstDash val="solid"/>
          </a:ln>
        </p:spPr>
      </p:sp>
      <p:pic>
        <p:nvPicPr>
          <p:cNvPr id="9" name="Image 1" descr="0.84 percent">    </p:cNvPr>
          <p:cNvPicPr>
            <a:picLocks noChangeAspect="1"/>
          </p:cNvPicPr>
          <p:nvPr/>
        </p:nvPicPr>
        <p:blipFill>
          <a:blip r:embed="rId2"/>
          <a:stretch>
            <a:fillRect/>
          </a:stretch>
        </p:blipFill>
        <p:spPr>
          <a:xfrm>
            <a:off x="1143000" y="2148840"/>
            <a:ext cx="3840480" cy="768096"/>
          </a:xfrm>
          <a:prstGeom prst="rect">
            <a:avLst/>
          </a:prstGeom>
        </p:spPr>
      </p:pic>
      <p:sp>
        <p:nvSpPr>
          <p:cNvPr id="10" name="Text 6"/>
          <p:cNvSpPr txBox="1"/>
          <p:nvPr/>
        </p:nvSpPr>
        <p:spPr>
          <a:xfrm>
            <a:off x="1143000" y="3429000"/>
            <a:ext cx="4114800" cy="1097280"/>
          </a:xfrm>
          <a:prstGeom prst="rect">
            <a:avLst/>
          </a:prstGeom>
          <a:noFill/>
          <a:ln/>
        </p:spPr>
        <p:txBody>
          <a:bodyPr wrap="square" lIns="0" tIns="0" rIns="0" bIns="0" rtlCol="0" anchor="t"/>
          <a:lstStyle/>
          <a:p>
            <a:pPr indent="0" marL="0">
              <a:buNone/>
            </a:pPr>
            <a:r>
              <a:rPr lang="en-US" sz="1800" dirty="0">
                <a:solidFill>
                  <a:srgbClr val="1E293B"/>
                </a:solidFill>
                <a:latin typeface="Calibri" pitchFamily="34" charset="0"/>
                <a:ea typeface="Calibri" pitchFamily="34" charset="-122"/>
                <a:cs typeface="Calibri" pitchFamily="34" charset="-120"/>
              </a:rPr>
              <a:t>NVDAB above Thursday's NYSE close, measured on 2026-09-25 at 07:21 UTC, with the NYSE shut.</a:t>
            </a:r>
            <a:endParaRPr lang="en-US" sz="1800" dirty="0"/>
          </a:p>
        </p:txBody>
      </p:sp>
      <p:sp>
        <p:nvSpPr>
          <p:cNvPr id="11" name="Text 7"/>
          <p:cNvSpPr txBox="1"/>
          <p:nvPr/>
        </p:nvSpPr>
        <p:spPr>
          <a:xfrm>
            <a:off x="1143000" y="4754880"/>
            <a:ext cx="4114800" cy="914400"/>
          </a:xfrm>
          <a:prstGeom prst="rect">
            <a:avLst/>
          </a:prstGeom>
          <a:noFill/>
          <a:ln/>
        </p:spPr>
        <p:txBody>
          <a:bodyPr wrap="square" lIns="0" tIns="0" rIns="0" bIns="0" rtlCol="0" anchor="t"/>
          <a:lstStyle/>
          <a:p>
            <a:pPr indent="0" marL="0">
              <a:buNone/>
            </a:pPr>
            <a:r>
              <a:rPr lang="en-US" sz="1500" i="1" dirty="0">
                <a:solidFill>
                  <a:srgbClr val="64748B"/>
                </a:solidFill>
                <a:latin typeface="Calibri" pitchFamily="34" charset="0"/>
                <a:ea typeface="Calibri" pitchFamily="34" charset="-122"/>
                <a:cs typeface="Calibri" pitchFamily="34" charset="-120"/>
              </a:rPr>
              <a:t>A buy at that premium is exactly what a careless agent would make.</a:t>
            </a:r>
            <a:endParaRPr lang="en-US" sz="1500" dirty="0"/>
          </a:p>
        </p:txBody>
      </p:sp>
      <p:sp>
        <p:nvSpPr>
          <p:cNvPr id="12" name="problem 1 shadow"/>
          <p:cNvSpPr/>
          <p:nvPr/>
        </p:nvSpPr>
        <p:spPr>
          <a:xfrm>
            <a:off x="5852160" y="1856232"/>
            <a:ext cx="5577840" cy="1280160"/>
          </a:xfrm>
          <a:prstGeom prst="roundRect">
            <a:avLst>
              <a:gd name="adj" fmla="val 7143"/>
            </a:avLst>
          </a:prstGeom>
          <a:solidFill>
            <a:srgbClr val="1E293B"/>
          </a:solidFill>
          <a:ln w="12700">
            <a:solidFill>
              <a:srgbClr val="1E293B"/>
            </a:solidFill>
            <a:prstDash val="solid"/>
          </a:ln>
        </p:spPr>
      </p:sp>
      <p:sp>
        <p:nvSpPr>
          <p:cNvPr id="13" name="problem 1"/>
          <p:cNvSpPr/>
          <p:nvPr/>
        </p:nvSpPr>
        <p:spPr>
          <a:xfrm>
            <a:off x="5852160" y="1783080"/>
            <a:ext cx="5577840" cy="1280160"/>
          </a:xfrm>
          <a:prstGeom prst="roundRect">
            <a:avLst>
              <a:gd name="adj" fmla="val 7143"/>
            </a:avLst>
          </a:prstGeom>
          <a:solidFill>
            <a:srgbClr val="FFFDF3"/>
          </a:solidFill>
          <a:ln w="38100">
            <a:solidFill>
              <a:srgbClr val="1E293B"/>
            </a:solidFill>
            <a:prstDash val="solid"/>
          </a:ln>
        </p:spPr>
      </p:sp>
      <p:sp>
        <p:nvSpPr>
          <p:cNvPr id="14" name="problem 1 inner rule"/>
          <p:cNvSpPr/>
          <p:nvPr/>
        </p:nvSpPr>
        <p:spPr>
          <a:xfrm>
            <a:off x="5916168" y="1847088"/>
            <a:ext cx="5449824" cy="1152144"/>
          </a:xfrm>
          <a:prstGeom prst="roundRect">
            <a:avLst>
              <a:gd name="adj" fmla="val 5556"/>
            </a:avLst>
          </a:prstGeom>
          <a:ln w="12700">
            <a:solidFill>
              <a:srgbClr val="CBD5E1"/>
            </a:solidFill>
            <a:prstDash val="solid"/>
          </a:ln>
        </p:spPr>
      </p:sp>
      <p:pic>
        <p:nvPicPr>
          <p:cNvPr id="15" name="Image 2" descr="pixel monster">    </p:cNvPr>
          <p:cNvPicPr>
            <a:picLocks noChangeAspect="1"/>
          </p:cNvPicPr>
          <p:nvPr/>
        </p:nvPicPr>
        <p:blipFill>
          <a:blip r:embed="rId3"/>
          <a:stretch>
            <a:fillRect/>
          </a:stretch>
        </p:blipFill>
        <p:spPr>
          <a:xfrm>
            <a:off x="6035040" y="2057400"/>
            <a:ext cx="731520" cy="731520"/>
          </a:xfrm>
          <a:prstGeom prst="rect">
            <a:avLst/>
          </a:prstGeom>
        </p:spPr>
      </p:pic>
      <p:sp>
        <p:nvSpPr>
          <p:cNvPr id="16" name="Text 11"/>
          <p:cNvSpPr txBox="1"/>
          <p:nvPr/>
        </p:nvSpPr>
        <p:spPr>
          <a:xfrm>
            <a:off x="6949440" y="1920240"/>
            <a:ext cx="4297680" cy="1005840"/>
          </a:xfrm>
          <a:prstGeom prst="rect">
            <a:avLst/>
          </a:prstGeom>
          <a:noFill/>
          <a:ln/>
        </p:spPr>
        <p:txBody>
          <a:bodyPr wrap="square" lIns="0" tIns="0" rIns="0" bIns="0" rtlCol="0" anchor="ctr"/>
          <a:lstStyle/>
          <a:p>
            <a:pPr indent="0" marL="0">
              <a:buNone/>
            </a:pPr>
            <a:r>
              <a:rPr lang="en-US" sz="1550" dirty="0">
                <a:solidFill>
                  <a:srgbClr val="1E293B"/>
                </a:solidFill>
                <a:latin typeface="Calibri" pitchFamily="34" charset="0"/>
                <a:ea typeface="Calibri" pitchFamily="34" charset="-122"/>
                <a:cs typeface="Calibri" pitchFamily="34" charset="-120"/>
              </a:rPr>
              <a:t>Binance's status endpoint reports bStocks as TRADING around the clock, so it can't tell an agent the NYSE is closed.</a:t>
            </a:r>
            <a:endParaRPr lang="en-US" sz="1550" dirty="0"/>
          </a:p>
        </p:txBody>
      </p:sp>
      <p:sp>
        <p:nvSpPr>
          <p:cNvPr id="17" name="problem 2 shadow"/>
          <p:cNvSpPr/>
          <p:nvPr/>
        </p:nvSpPr>
        <p:spPr>
          <a:xfrm>
            <a:off x="5852160" y="3319272"/>
            <a:ext cx="5577840" cy="1280160"/>
          </a:xfrm>
          <a:prstGeom prst="roundRect">
            <a:avLst>
              <a:gd name="adj" fmla="val 7143"/>
            </a:avLst>
          </a:prstGeom>
          <a:solidFill>
            <a:srgbClr val="1E293B"/>
          </a:solidFill>
          <a:ln w="12700">
            <a:solidFill>
              <a:srgbClr val="1E293B"/>
            </a:solidFill>
            <a:prstDash val="solid"/>
          </a:ln>
        </p:spPr>
      </p:sp>
      <p:sp>
        <p:nvSpPr>
          <p:cNvPr id="18" name="problem 2"/>
          <p:cNvSpPr/>
          <p:nvPr/>
        </p:nvSpPr>
        <p:spPr>
          <a:xfrm>
            <a:off x="5852160" y="3246120"/>
            <a:ext cx="5577840" cy="1280160"/>
          </a:xfrm>
          <a:prstGeom prst="roundRect">
            <a:avLst>
              <a:gd name="adj" fmla="val 7143"/>
            </a:avLst>
          </a:prstGeom>
          <a:solidFill>
            <a:srgbClr val="FFFDF3"/>
          </a:solidFill>
          <a:ln w="38100">
            <a:solidFill>
              <a:srgbClr val="1E293B"/>
            </a:solidFill>
            <a:prstDash val="solid"/>
          </a:ln>
        </p:spPr>
      </p:sp>
      <p:sp>
        <p:nvSpPr>
          <p:cNvPr id="19" name="problem 2 inner rule"/>
          <p:cNvSpPr/>
          <p:nvPr/>
        </p:nvSpPr>
        <p:spPr>
          <a:xfrm>
            <a:off x="5916168" y="3310128"/>
            <a:ext cx="5449824" cy="1152144"/>
          </a:xfrm>
          <a:prstGeom prst="roundRect">
            <a:avLst>
              <a:gd name="adj" fmla="val 5556"/>
            </a:avLst>
          </a:prstGeom>
          <a:ln w="12700">
            <a:solidFill>
              <a:srgbClr val="CBD5E1"/>
            </a:solidFill>
            <a:prstDash val="solid"/>
          </a:ln>
        </p:spPr>
      </p:sp>
      <p:pic>
        <p:nvPicPr>
          <p:cNvPr id="20" name="Image 3" descr="pixel monster">    </p:cNvPr>
          <p:cNvPicPr>
            <a:picLocks noChangeAspect="1"/>
          </p:cNvPicPr>
          <p:nvPr/>
        </p:nvPicPr>
        <p:blipFill>
          <a:blip r:embed="rId4"/>
          <a:stretch>
            <a:fillRect/>
          </a:stretch>
        </p:blipFill>
        <p:spPr>
          <a:xfrm>
            <a:off x="6035040" y="3520440"/>
            <a:ext cx="731520" cy="731520"/>
          </a:xfrm>
          <a:prstGeom prst="rect">
            <a:avLst/>
          </a:prstGeom>
        </p:spPr>
      </p:pic>
      <p:sp>
        <p:nvSpPr>
          <p:cNvPr id="21" name="Text 15"/>
          <p:cNvSpPr txBox="1"/>
          <p:nvPr/>
        </p:nvSpPr>
        <p:spPr>
          <a:xfrm>
            <a:off x="6949440" y="3383280"/>
            <a:ext cx="4297680" cy="1005840"/>
          </a:xfrm>
          <a:prstGeom prst="rect">
            <a:avLst/>
          </a:prstGeom>
          <a:noFill/>
          <a:ln/>
        </p:spPr>
        <p:txBody>
          <a:bodyPr wrap="square" lIns="0" tIns="0" rIns="0" bIns="0" rtlCol="0" anchor="ctr"/>
          <a:lstStyle/>
          <a:p>
            <a:pPr indent="0" marL="0">
              <a:buNone/>
            </a:pPr>
            <a:r>
              <a:rPr lang="en-US" sz="1550" dirty="0">
                <a:solidFill>
                  <a:srgbClr val="1E293B"/>
                </a:solidFill>
                <a:latin typeface="Calibri" pitchFamily="34" charset="0"/>
                <a:ea typeface="Calibri" pitchFamily="34" charset="-122"/>
                <a:cs typeface="Calibri" pitchFamily="34" charset="-120"/>
              </a:rPr>
              <a:t>The RWA reference price is empty for all 46 bStocks, so there is no second price to compare against.</a:t>
            </a:r>
            <a:endParaRPr lang="en-US" sz="1550" dirty="0"/>
          </a:p>
        </p:txBody>
      </p:sp>
      <p:sp>
        <p:nvSpPr>
          <p:cNvPr id="22" name="problem 3 shadow"/>
          <p:cNvSpPr/>
          <p:nvPr/>
        </p:nvSpPr>
        <p:spPr>
          <a:xfrm>
            <a:off x="5852160" y="4782312"/>
            <a:ext cx="5577840" cy="1280160"/>
          </a:xfrm>
          <a:prstGeom prst="roundRect">
            <a:avLst>
              <a:gd name="adj" fmla="val 7143"/>
            </a:avLst>
          </a:prstGeom>
          <a:solidFill>
            <a:srgbClr val="1E293B"/>
          </a:solidFill>
          <a:ln w="12700">
            <a:solidFill>
              <a:srgbClr val="1E293B"/>
            </a:solidFill>
            <a:prstDash val="solid"/>
          </a:ln>
        </p:spPr>
      </p:sp>
      <p:sp>
        <p:nvSpPr>
          <p:cNvPr id="23" name="problem 3"/>
          <p:cNvSpPr/>
          <p:nvPr/>
        </p:nvSpPr>
        <p:spPr>
          <a:xfrm>
            <a:off x="5852160" y="4709160"/>
            <a:ext cx="5577840" cy="1280160"/>
          </a:xfrm>
          <a:prstGeom prst="roundRect">
            <a:avLst>
              <a:gd name="adj" fmla="val 7143"/>
            </a:avLst>
          </a:prstGeom>
          <a:solidFill>
            <a:srgbClr val="FFFDF3"/>
          </a:solidFill>
          <a:ln w="38100">
            <a:solidFill>
              <a:srgbClr val="1E293B"/>
            </a:solidFill>
            <a:prstDash val="solid"/>
          </a:ln>
        </p:spPr>
      </p:sp>
      <p:sp>
        <p:nvSpPr>
          <p:cNvPr id="24" name="problem 3 inner rule"/>
          <p:cNvSpPr/>
          <p:nvPr/>
        </p:nvSpPr>
        <p:spPr>
          <a:xfrm>
            <a:off x="5916168" y="4773168"/>
            <a:ext cx="5449824" cy="1152144"/>
          </a:xfrm>
          <a:prstGeom prst="roundRect">
            <a:avLst>
              <a:gd name="adj" fmla="val 5556"/>
            </a:avLst>
          </a:prstGeom>
          <a:ln w="12700">
            <a:solidFill>
              <a:srgbClr val="CBD5E1"/>
            </a:solidFill>
            <a:prstDash val="solid"/>
          </a:ln>
        </p:spPr>
      </p:sp>
      <p:pic>
        <p:nvPicPr>
          <p:cNvPr id="25" name="Image 4" descr="pixel monster">    </p:cNvPr>
          <p:cNvPicPr>
            <a:picLocks noChangeAspect="1"/>
          </p:cNvPicPr>
          <p:nvPr/>
        </p:nvPicPr>
        <p:blipFill>
          <a:blip r:embed="rId5"/>
          <a:stretch>
            <a:fillRect/>
          </a:stretch>
        </p:blipFill>
        <p:spPr>
          <a:xfrm>
            <a:off x="6035040" y="4983480"/>
            <a:ext cx="731520" cy="731520"/>
          </a:xfrm>
          <a:prstGeom prst="rect">
            <a:avLst/>
          </a:prstGeom>
        </p:spPr>
      </p:pic>
      <p:sp>
        <p:nvSpPr>
          <p:cNvPr id="26" name="Text 19"/>
          <p:cNvSpPr txBox="1"/>
          <p:nvPr/>
        </p:nvSpPr>
        <p:spPr>
          <a:xfrm>
            <a:off x="6949440" y="4846320"/>
            <a:ext cx="4297680" cy="1005840"/>
          </a:xfrm>
          <a:prstGeom prst="rect">
            <a:avLst/>
          </a:prstGeom>
          <a:noFill/>
          <a:ln/>
        </p:spPr>
        <p:txBody>
          <a:bodyPr wrap="square" lIns="0" tIns="0" rIns="0" bIns="0" rtlCol="0" anchor="ctr"/>
          <a:lstStyle/>
          <a:p>
            <a:pPr indent="0" marL="0">
              <a:buNone/>
            </a:pPr>
            <a:r>
              <a:rPr lang="en-US" sz="1550" dirty="0">
                <a:solidFill>
                  <a:srgbClr val="1E293B"/>
                </a:solidFill>
                <a:latin typeface="Calibri" pitchFamily="34" charset="0"/>
                <a:ea typeface="Calibri" pitchFamily="34" charset="-122"/>
                <a:cs typeface="Calibri" pitchFamily="34" charset="-120"/>
              </a:rPr>
              <a:t>The agent holds the funds. Nothing in the wallet limits a bad fill by market session, drift or the quote it committed to.</a:t>
            </a:r>
            <a:endParaRPr lang="en-US" sz="15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banner shadow"/>
          <p:cNvSpPr/>
          <p:nvPr/>
        </p:nvSpPr>
        <p:spPr>
          <a:xfrm>
            <a:off x="822960" y="713232"/>
            <a:ext cx="512064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512064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4992624" cy="740664"/>
          </a:xfrm>
          <a:prstGeom prst="roundRect">
            <a:avLst>
              <a:gd name="adj" fmla="val 8642"/>
            </a:avLst>
          </a:prstGeom>
          <a:ln w="12700">
            <a:solidFill>
              <a:srgbClr val="CBD5E1"/>
            </a:solidFill>
            <a:prstDash val="solid"/>
          </a:ln>
        </p:spPr>
      </p:sp>
      <p:pic>
        <p:nvPicPr>
          <p:cNvPr id="5" name="Image 0" descr="How it works">    </p:cNvPr>
          <p:cNvPicPr>
            <a:picLocks noChangeAspect="1"/>
          </p:cNvPicPr>
          <p:nvPr/>
        </p:nvPicPr>
        <p:blipFill>
          <a:blip r:embed="rId1"/>
          <a:stretch>
            <a:fillRect/>
          </a:stretch>
        </p:blipFill>
        <p:spPr>
          <a:xfrm>
            <a:off x="1188720" y="891540"/>
            <a:ext cx="4389120" cy="365760"/>
          </a:xfrm>
          <a:prstGeom prst="rect">
            <a:avLst/>
          </a:prstGeom>
        </p:spPr>
      </p:pic>
      <p:sp>
        <p:nvSpPr>
          <p:cNvPr id="6" name="Owner shadow"/>
          <p:cNvSpPr/>
          <p:nvPr/>
        </p:nvSpPr>
        <p:spPr>
          <a:xfrm>
            <a:off x="822960" y="1719072"/>
            <a:ext cx="2834640" cy="1005840"/>
          </a:xfrm>
          <a:prstGeom prst="roundRect">
            <a:avLst>
              <a:gd name="adj" fmla="val 9091"/>
            </a:avLst>
          </a:prstGeom>
          <a:solidFill>
            <a:srgbClr val="1E293B"/>
          </a:solidFill>
          <a:ln w="12700">
            <a:solidFill>
              <a:srgbClr val="1E293B"/>
            </a:solidFill>
            <a:prstDash val="solid"/>
          </a:ln>
        </p:spPr>
      </p:sp>
      <p:sp>
        <p:nvSpPr>
          <p:cNvPr id="7" name="Owner"/>
          <p:cNvSpPr/>
          <p:nvPr/>
        </p:nvSpPr>
        <p:spPr>
          <a:xfrm>
            <a:off x="822960" y="1645920"/>
            <a:ext cx="2834640" cy="1005840"/>
          </a:xfrm>
          <a:prstGeom prst="roundRect">
            <a:avLst>
              <a:gd name="adj" fmla="val 9091"/>
            </a:avLst>
          </a:prstGeom>
          <a:solidFill>
            <a:srgbClr val="FFFDF3"/>
          </a:solidFill>
          <a:ln w="38100">
            <a:solidFill>
              <a:srgbClr val="1E293B"/>
            </a:solidFill>
            <a:prstDash val="solid"/>
          </a:ln>
        </p:spPr>
      </p:sp>
      <p:sp>
        <p:nvSpPr>
          <p:cNvPr id="8" name="Owner inner rule"/>
          <p:cNvSpPr/>
          <p:nvPr/>
        </p:nvSpPr>
        <p:spPr>
          <a:xfrm>
            <a:off x="886968" y="1709928"/>
            <a:ext cx="2706624" cy="877824"/>
          </a:xfrm>
          <a:prstGeom prst="roundRect">
            <a:avLst>
              <a:gd name="adj" fmla="val 7292"/>
            </a:avLst>
          </a:prstGeom>
          <a:ln w="12700">
            <a:solidFill>
              <a:srgbClr val="CBD5E1"/>
            </a:solidFill>
            <a:prstDash val="solid"/>
          </a:ln>
        </p:spPr>
      </p:sp>
      <p:pic>
        <p:nvPicPr>
          <p:cNvPr id="9" name="Image 1" descr="Owner">    </p:cNvPr>
          <p:cNvPicPr>
            <a:picLocks noChangeAspect="1"/>
          </p:cNvPicPr>
          <p:nvPr/>
        </p:nvPicPr>
        <p:blipFill>
          <a:blip r:embed="rId2"/>
          <a:stretch>
            <a:fillRect/>
          </a:stretch>
        </p:blipFill>
        <p:spPr>
          <a:xfrm>
            <a:off x="987552" y="1783080"/>
            <a:ext cx="731520" cy="731520"/>
          </a:xfrm>
          <a:prstGeom prst="rect">
            <a:avLst/>
          </a:prstGeom>
        </p:spPr>
      </p:pic>
      <p:sp>
        <p:nvSpPr>
          <p:cNvPr id="10" name="Text 6"/>
          <p:cNvSpPr txBox="1"/>
          <p:nvPr/>
        </p:nvSpPr>
        <p:spPr>
          <a:xfrm>
            <a:off x="1874520" y="1801368"/>
            <a:ext cx="164592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Owner</a:t>
            </a:r>
            <a:endParaRPr lang="en-US" sz="1700" dirty="0"/>
          </a:p>
        </p:txBody>
      </p:sp>
      <p:sp>
        <p:nvSpPr>
          <p:cNvPr id="11" name="Text 7"/>
          <p:cNvSpPr txBox="1"/>
          <p:nvPr/>
        </p:nvSpPr>
        <p:spPr>
          <a:xfrm>
            <a:off x="1874520" y="2194560"/>
            <a:ext cx="1645920" cy="3657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sets the mandate</a:t>
            </a:r>
            <a:endParaRPr lang="en-US" sz="1250" dirty="0"/>
          </a:p>
        </p:txBody>
      </p:sp>
      <p:sp>
        <p:nvSpPr>
          <p:cNvPr id="12" name="Oracle updater shadow"/>
          <p:cNvSpPr/>
          <p:nvPr/>
        </p:nvSpPr>
        <p:spPr>
          <a:xfrm>
            <a:off x="822960" y="2999232"/>
            <a:ext cx="2834640" cy="1005840"/>
          </a:xfrm>
          <a:prstGeom prst="roundRect">
            <a:avLst>
              <a:gd name="adj" fmla="val 9091"/>
            </a:avLst>
          </a:prstGeom>
          <a:solidFill>
            <a:srgbClr val="1E293B"/>
          </a:solidFill>
          <a:ln w="12700">
            <a:solidFill>
              <a:srgbClr val="1E293B"/>
            </a:solidFill>
            <a:prstDash val="solid"/>
          </a:ln>
        </p:spPr>
      </p:sp>
      <p:sp>
        <p:nvSpPr>
          <p:cNvPr id="13" name="Oracle updater"/>
          <p:cNvSpPr/>
          <p:nvPr/>
        </p:nvSpPr>
        <p:spPr>
          <a:xfrm>
            <a:off x="822960" y="2926080"/>
            <a:ext cx="2834640" cy="1005840"/>
          </a:xfrm>
          <a:prstGeom prst="roundRect">
            <a:avLst>
              <a:gd name="adj" fmla="val 9091"/>
            </a:avLst>
          </a:prstGeom>
          <a:solidFill>
            <a:srgbClr val="FFFDF3"/>
          </a:solidFill>
          <a:ln w="38100">
            <a:solidFill>
              <a:srgbClr val="1E293B"/>
            </a:solidFill>
            <a:prstDash val="solid"/>
          </a:ln>
        </p:spPr>
      </p:sp>
      <p:sp>
        <p:nvSpPr>
          <p:cNvPr id="14" name="Oracle updater inner rule"/>
          <p:cNvSpPr/>
          <p:nvPr/>
        </p:nvSpPr>
        <p:spPr>
          <a:xfrm>
            <a:off x="886968" y="2990088"/>
            <a:ext cx="2706624" cy="877824"/>
          </a:xfrm>
          <a:prstGeom prst="roundRect">
            <a:avLst>
              <a:gd name="adj" fmla="val 7292"/>
            </a:avLst>
          </a:prstGeom>
          <a:ln w="12700">
            <a:solidFill>
              <a:srgbClr val="CBD5E1"/>
            </a:solidFill>
            <a:prstDash val="solid"/>
          </a:ln>
        </p:spPr>
      </p:sp>
      <p:pic>
        <p:nvPicPr>
          <p:cNvPr id="15" name="Image 2" descr="Oracle updater">    </p:cNvPr>
          <p:cNvPicPr>
            <a:picLocks noChangeAspect="1"/>
          </p:cNvPicPr>
          <p:nvPr/>
        </p:nvPicPr>
        <p:blipFill>
          <a:blip r:embed="rId3"/>
          <a:stretch>
            <a:fillRect/>
          </a:stretch>
        </p:blipFill>
        <p:spPr>
          <a:xfrm>
            <a:off x="987552" y="3063240"/>
            <a:ext cx="731520" cy="731520"/>
          </a:xfrm>
          <a:prstGeom prst="rect">
            <a:avLst/>
          </a:prstGeom>
        </p:spPr>
      </p:pic>
      <p:sp>
        <p:nvSpPr>
          <p:cNvPr id="16" name="Text 11"/>
          <p:cNvSpPr txBox="1"/>
          <p:nvPr/>
        </p:nvSpPr>
        <p:spPr>
          <a:xfrm>
            <a:off x="1874520" y="3081528"/>
            <a:ext cx="164592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Oracle updater</a:t>
            </a:r>
            <a:endParaRPr lang="en-US" sz="1700" dirty="0"/>
          </a:p>
        </p:txBody>
      </p:sp>
      <p:sp>
        <p:nvSpPr>
          <p:cNvPr id="17" name="Text 12"/>
          <p:cNvSpPr txBox="1"/>
          <p:nvPr/>
        </p:nvSpPr>
        <p:spPr>
          <a:xfrm>
            <a:off x="1874520" y="3474720"/>
            <a:ext cx="1645920" cy="3657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price, halt, NYSE session</a:t>
            </a:r>
            <a:endParaRPr lang="en-US" sz="1250" dirty="0"/>
          </a:p>
        </p:txBody>
      </p:sp>
      <p:sp>
        <p:nvSpPr>
          <p:cNvPr id="18" name="Agent shadow"/>
          <p:cNvSpPr/>
          <p:nvPr/>
        </p:nvSpPr>
        <p:spPr>
          <a:xfrm>
            <a:off x="822960" y="4370832"/>
            <a:ext cx="2834640" cy="1005840"/>
          </a:xfrm>
          <a:prstGeom prst="roundRect">
            <a:avLst>
              <a:gd name="adj" fmla="val 9091"/>
            </a:avLst>
          </a:prstGeom>
          <a:solidFill>
            <a:srgbClr val="1E293B"/>
          </a:solidFill>
          <a:ln w="12700">
            <a:solidFill>
              <a:srgbClr val="1E293B"/>
            </a:solidFill>
            <a:prstDash val="solid"/>
          </a:ln>
        </p:spPr>
      </p:sp>
      <p:sp>
        <p:nvSpPr>
          <p:cNvPr id="19" name="Agent"/>
          <p:cNvSpPr/>
          <p:nvPr/>
        </p:nvSpPr>
        <p:spPr>
          <a:xfrm>
            <a:off x="822960" y="4297680"/>
            <a:ext cx="2834640" cy="1005840"/>
          </a:xfrm>
          <a:prstGeom prst="roundRect">
            <a:avLst>
              <a:gd name="adj" fmla="val 9091"/>
            </a:avLst>
          </a:prstGeom>
          <a:solidFill>
            <a:srgbClr val="FFFDF3"/>
          </a:solidFill>
          <a:ln w="38100">
            <a:solidFill>
              <a:srgbClr val="1E293B"/>
            </a:solidFill>
            <a:prstDash val="solid"/>
          </a:ln>
        </p:spPr>
      </p:sp>
      <p:sp>
        <p:nvSpPr>
          <p:cNvPr id="20" name="Agent inner rule"/>
          <p:cNvSpPr/>
          <p:nvPr/>
        </p:nvSpPr>
        <p:spPr>
          <a:xfrm>
            <a:off x="886968" y="4361688"/>
            <a:ext cx="2706624" cy="877824"/>
          </a:xfrm>
          <a:prstGeom prst="roundRect">
            <a:avLst>
              <a:gd name="adj" fmla="val 7292"/>
            </a:avLst>
          </a:prstGeom>
          <a:ln w="12700">
            <a:solidFill>
              <a:srgbClr val="CBD5E1"/>
            </a:solidFill>
            <a:prstDash val="solid"/>
          </a:ln>
        </p:spPr>
      </p:sp>
      <p:pic>
        <p:nvPicPr>
          <p:cNvPr id="21" name="Image 3" descr="Agent">    </p:cNvPr>
          <p:cNvPicPr>
            <a:picLocks noChangeAspect="1"/>
          </p:cNvPicPr>
          <p:nvPr/>
        </p:nvPicPr>
        <p:blipFill>
          <a:blip r:embed="rId4"/>
          <a:stretch>
            <a:fillRect/>
          </a:stretch>
        </p:blipFill>
        <p:spPr>
          <a:xfrm>
            <a:off x="987552" y="4434840"/>
            <a:ext cx="731520" cy="731520"/>
          </a:xfrm>
          <a:prstGeom prst="rect">
            <a:avLst/>
          </a:prstGeom>
        </p:spPr>
      </p:pic>
      <p:sp>
        <p:nvSpPr>
          <p:cNvPr id="22" name="Text 16"/>
          <p:cNvSpPr txBox="1"/>
          <p:nvPr/>
        </p:nvSpPr>
        <p:spPr>
          <a:xfrm>
            <a:off x="1874520" y="4453128"/>
            <a:ext cx="164592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Agent</a:t>
            </a:r>
            <a:endParaRPr lang="en-US" sz="1700" dirty="0"/>
          </a:p>
        </p:txBody>
      </p:sp>
      <p:sp>
        <p:nvSpPr>
          <p:cNvPr id="23" name="Text 17"/>
          <p:cNvSpPr txBox="1"/>
          <p:nvPr/>
        </p:nvSpPr>
        <p:spPr>
          <a:xfrm>
            <a:off x="1874520" y="4846320"/>
            <a:ext cx="1645920" cy="3657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a Binance Agentic Wallet</a:t>
            </a:r>
            <a:endParaRPr lang="en-US" sz="1250" dirty="0"/>
          </a:p>
        </p:txBody>
      </p:sp>
      <p:sp>
        <p:nvSpPr>
          <p:cNvPr id="24" name="Covenant.sol shadow"/>
          <p:cNvSpPr/>
          <p:nvPr/>
        </p:nvSpPr>
        <p:spPr>
          <a:xfrm>
            <a:off x="4846320" y="2450592"/>
            <a:ext cx="3017520" cy="2103120"/>
          </a:xfrm>
          <a:prstGeom prst="roundRect">
            <a:avLst>
              <a:gd name="adj" fmla="val 4348"/>
            </a:avLst>
          </a:prstGeom>
          <a:solidFill>
            <a:srgbClr val="1E293B"/>
          </a:solidFill>
          <a:ln w="12700">
            <a:solidFill>
              <a:srgbClr val="1E293B"/>
            </a:solidFill>
            <a:prstDash val="solid"/>
          </a:ln>
        </p:spPr>
      </p:sp>
      <p:sp>
        <p:nvSpPr>
          <p:cNvPr id="25" name="Covenant.sol"/>
          <p:cNvSpPr/>
          <p:nvPr/>
        </p:nvSpPr>
        <p:spPr>
          <a:xfrm>
            <a:off x="4846320" y="2377440"/>
            <a:ext cx="3017520" cy="2103120"/>
          </a:xfrm>
          <a:prstGeom prst="roundRect">
            <a:avLst>
              <a:gd name="adj" fmla="val 4348"/>
            </a:avLst>
          </a:prstGeom>
          <a:solidFill>
            <a:srgbClr val="FDE047"/>
          </a:solidFill>
          <a:ln w="38100">
            <a:solidFill>
              <a:srgbClr val="1E293B"/>
            </a:solidFill>
            <a:prstDash val="solid"/>
          </a:ln>
        </p:spPr>
      </p:sp>
      <p:sp>
        <p:nvSpPr>
          <p:cNvPr id="26" name="Covenant.sol inner rule"/>
          <p:cNvSpPr/>
          <p:nvPr/>
        </p:nvSpPr>
        <p:spPr>
          <a:xfrm>
            <a:off x="4910328" y="2441448"/>
            <a:ext cx="2889504" cy="1975104"/>
          </a:xfrm>
          <a:prstGeom prst="roundRect">
            <a:avLst>
              <a:gd name="adj" fmla="val 3241"/>
            </a:avLst>
          </a:prstGeom>
          <a:ln w="12700">
            <a:solidFill>
              <a:srgbClr val="475569"/>
            </a:solidFill>
            <a:prstDash val="solid"/>
          </a:ln>
        </p:spPr>
      </p:sp>
      <p:pic>
        <p:nvPicPr>
          <p:cNvPr id="27" name="Image 4" descr="Covenant.sol">    </p:cNvPr>
          <p:cNvPicPr>
            <a:picLocks noChangeAspect="1"/>
          </p:cNvPicPr>
          <p:nvPr/>
        </p:nvPicPr>
        <p:blipFill>
          <a:blip r:embed="rId5"/>
          <a:stretch>
            <a:fillRect/>
          </a:stretch>
        </p:blipFill>
        <p:spPr>
          <a:xfrm>
            <a:off x="5010912" y="3063240"/>
            <a:ext cx="731520" cy="731520"/>
          </a:xfrm>
          <a:prstGeom prst="rect">
            <a:avLst/>
          </a:prstGeom>
        </p:spPr>
      </p:pic>
      <p:sp>
        <p:nvSpPr>
          <p:cNvPr id="28" name="Text 21"/>
          <p:cNvSpPr txBox="1"/>
          <p:nvPr/>
        </p:nvSpPr>
        <p:spPr>
          <a:xfrm>
            <a:off x="5897880" y="2532888"/>
            <a:ext cx="182880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Covenant.sol</a:t>
            </a:r>
            <a:endParaRPr lang="en-US" sz="1700" dirty="0"/>
          </a:p>
        </p:txBody>
      </p:sp>
      <p:sp>
        <p:nvSpPr>
          <p:cNvPr id="29" name="Text 22"/>
          <p:cNvSpPr txBox="1"/>
          <p:nvPr/>
        </p:nvSpPr>
        <p:spPr>
          <a:xfrm>
            <a:off x="5897880" y="2926080"/>
            <a:ext cx="1828800" cy="1463040"/>
          </a:xfrm>
          <a:prstGeom prst="rect">
            <a:avLst/>
          </a:prstGeom>
          <a:noFill/>
          <a:ln/>
        </p:spPr>
        <p:txBody>
          <a:bodyPr wrap="square" lIns="0" tIns="0" rIns="0" bIns="0" rtlCol="0" anchor="t"/>
          <a:lstStyle/>
          <a:p>
            <a:pPr indent="0" marL="0">
              <a:buNone/>
            </a:pPr>
            <a:r>
              <a:rPr lang="en-US" sz="1250" dirty="0">
                <a:solidFill>
                  <a:srgbClr val="1E293B"/>
                </a:solidFill>
                <a:latin typeface="Calibri" pitchFamily="34" charset="0"/>
                <a:ea typeface="Calibri" pitchFamily="34" charset="-122"/>
                <a:cs typeface="Calibri" pitchFamily="34" charset="-120"/>
              </a:rPr>
              <a:t>Mandate, oracle and guard.</a:t>
            </a:r>
            <a:endParaRPr lang="en-US" sz="1250" dirty="0"/>
          </a:p>
          <a:p>
            <a:pPr indent="0" marL="0">
              <a:buNone/>
            </a:pPr>
            <a:r>
              <a:rPr lang="en-US" sz="1250" dirty="0">
                <a:solidFill>
                  <a:srgbClr val="1E293B"/>
                </a:solidFill>
                <a:latin typeface="Calibri" pitchFamily="34" charset="0"/>
                <a:ea typeface="Calibri" pitchFamily="34" charset="-122"/>
                <a:cs typeface="Calibri" pitchFamily="34" charset="-120"/>
              </a:rPr>
              <a:t>Allowed or denied, it records both on chain.</a:t>
            </a:r>
            <a:endParaRPr lang="en-US" sz="1250" dirty="0"/>
          </a:p>
        </p:txBody>
      </p:sp>
      <p:sp>
        <p:nvSpPr>
          <p:cNvPr id="30" name="Event log shadow"/>
          <p:cNvSpPr/>
          <p:nvPr/>
        </p:nvSpPr>
        <p:spPr>
          <a:xfrm>
            <a:off x="8686800" y="2176272"/>
            <a:ext cx="2743200" cy="1097280"/>
          </a:xfrm>
          <a:prstGeom prst="roundRect">
            <a:avLst>
              <a:gd name="adj" fmla="val 8333"/>
            </a:avLst>
          </a:prstGeom>
          <a:solidFill>
            <a:srgbClr val="1E293B"/>
          </a:solidFill>
          <a:ln w="12700">
            <a:solidFill>
              <a:srgbClr val="1E293B"/>
            </a:solidFill>
            <a:prstDash val="solid"/>
          </a:ln>
        </p:spPr>
      </p:sp>
      <p:sp>
        <p:nvSpPr>
          <p:cNvPr id="31" name="Event log"/>
          <p:cNvSpPr/>
          <p:nvPr/>
        </p:nvSpPr>
        <p:spPr>
          <a:xfrm>
            <a:off x="8686800" y="2103120"/>
            <a:ext cx="2743200" cy="1097280"/>
          </a:xfrm>
          <a:prstGeom prst="roundRect">
            <a:avLst>
              <a:gd name="adj" fmla="val 8333"/>
            </a:avLst>
          </a:prstGeom>
          <a:solidFill>
            <a:srgbClr val="FFFDF3"/>
          </a:solidFill>
          <a:ln w="38100">
            <a:solidFill>
              <a:srgbClr val="1E293B"/>
            </a:solidFill>
            <a:prstDash val="solid"/>
          </a:ln>
        </p:spPr>
      </p:sp>
      <p:sp>
        <p:nvSpPr>
          <p:cNvPr id="32" name="Event log inner rule"/>
          <p:cNvSpPr/>
          <p:nvPr/>
        </p:nvSpPr>
        <p:spPr>
          <a:xfrm>
            <a:off x="8750808" y="2167128"/>
            <a:ext cx="2615184" cy="969264"/>
          </a:xfrm>
          <a:prstGeom prst="roundRect">
            <a:avLst>
              <a:gd name="adj" fmla="val 6604"/>
            </a:avLst>
          </a:prstGeom>
          <a:ln w="12700">
            <a:solidFill>
              <a:srgbClr val="CBD5E1"/>
            </a:solidFill>
            <a:prstDash val="solid"/>
          </a:ln>
        </p:spPr>
      </p:sp>
      <p:pic>
        <p:nvPicPr>
          <p:cNvPr id="33" name="Image 5" descr="Event log">    </p:cNvPr>
          <p:cNvPicPr>
            <a:picLocks noChangeAspect="1"/>
          </p:cNvPicPr>
          <p:nvPr/>
        </p:nvPicPr>
        <p:blipFill>
          <a:blip r:embed="rId6"/>
          <a:stretch>
            <a:fillRect/>
          </a:stretch>
        </p:blipFill>
        <p:spPr>
          <a:xfrm>
            <a:off x="8851392" y="2286000"/>
            <a:ext cx="731520" cy="731520"/>
          </a:xfrm>
          <a:prstGeom prst="rect">
            <a:avLst/>
          </a:prstGeom>
        </p:spPr>
      </p:pic>
      <p:sp>
        <p:nvSpPr>
          <p:cNvPr id="34" name="Text 26"/>
          <p:cNvSpPr txBox="1"/>
          <p:nvPr/>
        </p:nvSpPr>
        <p:spPr>
          <a:xfrm>
            <a:off x="9738360" y="2258568"/>
            <a:ext cx="155448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Event log</a:t>
            </a:r>
            <a:endParaRPr lang="en-US" sz="1700" dirty="0"/>
          </a:p>
        </p:txBody>
      </p:sp>
      <p:sp>
        <p:nvSpPr>
          <p:cNvPr id="35" name="Text 27"/>
          <p:cNvSpPr txBox="1"/>
          <p:nvPr/>
        </p:nvSpPr>
        <p:spPr>
          <a:xfrm>
            <a:off x="9738360" y="2651760"/>
            <a:ext cx="1554480" cy="45720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every decision, public</a:t>
            </a:r>
            <a:endParaRPr lang="en-US" sz="1250" dirty="0"/>
          </a:p>
        </p:txBody>
      </p:sp>
      <p:sp>
        <p:nvSpPr>
          <p:cNvPr id="36" name="Binance router shadow"/>
          <p:cNvSpPr/>
          <p:nvPr/>
        </p:nvSpPr>
        <p:spPr>
          <a:xfrm>
            <a:off x="8686800" y="4370832"/>
            <a:ext cx="2743200" cy="1005840"/>
          </a:xfrm>
          <a:prstGeom prst="roundRect">
            <a:avLst>
              <a:gd name="adj" fmla="val 9091"/>
            </a:avLst>
          </a:prstGeom>
          <a:solidFill>
            <a:srgbClr val="1E293B"/>
          </a:solidFill>
          <a:ln w="12700">
            <a:solidFill>
              <a:srgbClr val="1E293B"/>
            </a:solidFill>
            <a:prstDash val="solid"/>
          </a:ln>
        </p:spPr>
      </p:sp>
      <p:sp>
        <p:nvSpPr>
          <p:cNvPr id="37" name="Binance router"/>
          <p:cNvSpPr/>
          <p:nvPr/>
        </p:nvSpPr>
        <p:spPr>
          <a:xfrm>
            <a:off x="8686800" y="4297680"/>
            <a:ext cx="2743200" cy="1005840"/>
          </a:xfrm>
          <a:prstGeom prst="roundRect">
            <a:avLst>
              <a:gd name="adj" fmla="val 9091"/>
            </a:avLst>
          </a:prstGeom>
          <a:solidFill>
            <a:srgbClr val="FFFDF3"/>
          </a:solidFill>
          <a:ln w="38100">
            <a:solidFill>
              <a:srgbClr val="1E293B"/>
            </a:solidFill>
            <a:prstDash val="solid"/>
          </a:ln>
        </p:spPr>
      </p:sp>
      <p:sp>
        <p:nvSpPr>
          <p:cNvPr id="38" name="Binance router inner rule"/>
          <p:cNvSpPr/>
          <p:nvPr/>
        </p:nvSpPr>
        <p:spPr>
          <a:xfrm>
            <a:off x="8750808" y="4361688"/>
            <a:ext cx="2615184" cy="877824"/>
          </a:xfrm>
          <a:prstGeom prst="roundRect">
            <a:avLst>
              <a:gd name="adj" fmla="val 7292"/>
            </a:avLst>
          </a:prstGeom>
          <a:ln w="12700">
            <a:solidFill>
              <a:srgbClr val="CBD5E1"/>
            </a:solidFill>
            <a:prstDash val="solid"/>
          </a:ln>
        </p:spPr>
      </p:sp>
      <p:pic>
        <p:nvPicPr>
          <p:cNvPr id="39" name="Image 6" descr="Binance router">    </p:cNvPr>
          <p:cNvPicPr>
            <a:picLocks noChangeAspect="1"/>
          </p:cNvPicPr>
          <p:nvPr/>
        </p:nvPicPr>
        <p:blipFill>
          <a:blip r:embed="rId7"/>
          <a:stretch>
            <a:fillRect/>
          </a:stretch>
        </p:blipFill>
        <p:spPr>
          <a:xfrm>
            <a:off x="8851392" y="4434840"/>
            <a:ext cx="731520" cy="731520"/>
          </a:xfrm>
          <a:prstGeom prst="rect">
            <a:avLst/>
          </a:prstGeom>
        </p:spPr>
      </p:pic>
      <p:sp>
        <p:nvSpPr>
          <p:cNvPr id="40" name="Text 31"/>
          <p:cNvSpPr txBox="1"/>
          <p:nvPr/>
        </p:nvSpPr>
        <p:spPr>
          <a:xfrm>
            <a:off x="9738360" y="4453128"/>
            <a:ext cx="1554480" cy="365760"/>
          </a:xfrm>
          <a:prstGeom prst="rect">
            <a:avLst/>
          </a:prstGeom>
          <a:noFill/>
          <a:ln/>
        </p:spPr>
        <p:txBody>
          <a:bodyPr wrap="square" lIns="0" tIns="0" rIns="0" bIns="0" rtlCol="0" anchor="t"/>
          <a:lstStyle/>
          <a:p>
            <a:pPr indent="0" marL="0">
              <a:buNone/>
            </a:pPr>
            <a:r>
              <a:rPr lang="en-US" sz="1700" b="1" dirty="0">
                <a:solidFill>
                  <a:srgbClr val="1E293B"/>
                </a:solidFill>
                <a:latin typeface="Calibri" pitchFamily="34" charset="0"/>
                <a:ea typeface="Calibri" pitchFamily="34" charset="-122"/>
                <a:cs typeface="Calibri" pitchFamily="34" charset="-120"/>
              </a:rPr>
              <a:t>Binance router</a:t>
            </a:r>
            <a:endParaRPr lang="en-US" sz="1700" dirty="0"/>
          </a:p>
        </p:txBody>
      </p:sp>
      <p:sp>
        <p:nvSpPr>
          <p:cNvPr id="41" name="Text 32"/>
          <p:cNvSpPr txBox="1"/>
          <p:nvPr/>
        </p:nvSpPr>
        <p:spPr>
          <a:xfrm>
            <a:off x="9738360" y="4846320"/>
            <a:ext cx="1554480" cy="365760"/>
          </a:xfrm>
          <a:prstGeom prst="rect">
            <a:avLst/>
          </a:prstGeom>
          <a:noFill/>
          <a:ln/>
        </p:spPr>
        <p:txBody>
          <a:bodyPr wrap="square" lIns="0" tIns="0" rIns="0" bIns="0" rtlCol="0" anchor="t"/>
          <a:lstStyle/>
          <a:p>
            <a:pPr indent="0" marL="0">
              <a:buNone/>
            </a:pPr>
            <a:r>
              <a:rPr lang="en-US" sz="1250" dirty="0">
                <a:solidFill>
                  <a:srgbClr val="64748B"/>
                </a:solidFill>
                <a:latin typeface="Calibri" pitchFamily="34" charset="0"/>
                <a:ea typeface="Calibri" pitchFamily="34" charset="-122"/>
                <a:cs typeface="Calibri" pitchFamily="34" charset="-120"/>
              </a:rPr>
              <a:t>the real swap</a:t>
            </a:r>
            <a:endParaRPr lang="en-US" sz="1250" dirty="0"/>
          </a:p>
        </p:txBody>
      </p:sp>
      <p:sp>
        <p:nvSpPr>
          <p:cNvPr id="42" name="Shape 33"/>
          <p:cNvSpPr/>
          <p:nvPr/>
        </p:nvSpPr>
        <p:spPr>
          <a:xfrm>
            <a:off x="3657600" y="2148840"/>
            <a:ext cx="1188720" cy="640080"/>
          </a:xfrm>
          <a:prstGeom prst="line">
            <a:avLst/>
          </a:prstGeom>
          <a:noFill/>
          <a:ln w="38100">
            <a:solidFill>
              <a:srgbClr val="1E293B"/>
            </a:solidFill>
            <a:prstDash val="solid"/>
            <a:tailEnd type="triangle"/>
          </a:ln>
        </p:spPr>
      </p:sp>
      <p:sp>
        <p:nvSpPr>
          <p:cNvPr id="43" name="Shape 34"/>
          <p:cNvSpPr/>
          <p:nvPr/>
        </p:nvSpPr>
        <p:spPr>
          <a:xfrm>
            <a:off x="3657600" y="3429000"/>
            <a:ext cx="1188720" cy="0"/>
          </a:xfrm>
          <a:prstGeom prst="line">
            <a:avLst/>
          </a:prstGeom>
          <a:noFill/>
          <a:ln w="38100">
            <a:solidFill>
              <a:srgbClr val="1E293B"/>
            </a:solidFill>
            <a:prstDash val="solid"/>
            <a:tailEnd type="triangle"/>
          </a:ln>
        </p:spPr>
      </p:sp>
      <p:sp>
        <p:nvSpPr>
          <p:cNvPr id="44" name="Shape 35"/>
          <p:cNvSpPr/>
          <p:nvPr/>
        </p:nvSpPr>
        <p:spPr>
          <a:xfrm flipV="1">
            <a:off x="3657600" y="4160520"/>
            <a:ext cx="1188720" cy="502920"/>
          </a:xfrm>
          <a:prstGeom prst="line">
            <a:avLst/>
          </a:prstGeom>
          <a:noFill/>
          <a:ln w="38100">
            <a:solidFill>
              <a:srgbClr val="1E293B"/>
            </a:solidFill>
            <a:prstDash val="solid"/>
            <a:tailEnd type="triangle"/>
          </a:ln>
        </p:spPr>
      </p:sp>
      <p:sp>
        <p:nvSpPr>
          <p:cNvPr id="45" name="Shape 36"/>
          <p:cNvSpPr/>
          <p:nvPr/>
        </p:nvSpPr>
        <p:spPr>
          <a:xfrm>
            <a:off x="7863840" y="2651760"/>
            <a:ext cx="822960" cy="0"/>
          </a:xfrm>
          <a:prstGeom prst="line">
            <a:avLst/>
          </a:prstGeom>
          <a:noFill/>
          <a:ln w="38100">
            <a:solidFill>
              <a:srgbClr val="1E293B"/>
            </a:solidFill>
            <a:prstDash val="solid"/>
            <a:tailEnd type="triangle"/>
          </a:ln>
        </p:spPr>
      </p:sp>
      <p:sp>
        <p:nvSpPr>
          <p:cNvPr id="46" name="Shape 37"/>
          <p:cNvSpPr/>
          <p:nvPr/>
        </p:nvSpPr>
        <p:spPr>
          <a:xfrm>
            <a:off x="3657600" y="4800600"/>
            <a:ext cx="5029200" cy="0"/>
          </a:xfrm>
          <a:prstGeom prst="line">
            <a:avLst/>
          </a:prstGeom>
          <a:noFill/>
          <a:ln w="38100">
            <a:solidFill>
              <a:srgbClr val="1E293B"/>
            </a:solidFill>
            <a:prstDash val="solid"/>
            <a:tailEnd type="triangle"/>
          </a:ln>
        </p:spPr>
      </p:sp>
      <p:sp>
        <p:nvSpPr>
          <p:cNvPr id="47" name="Shape 38"/>
          <p:cNvSpPr/>
          <p:nvPr/>
        </p:nvSpPr>
        <p:spPr>
          <a:xfrm flipV="1">
            <a:off x="10058400" y="3200400"/>
            <a:ext cx="0" cy="1097280"/>
          </a:xfrm>
          <a:prstGeom prst="line">
            <a:avLst/>
          </a:prstGeom>
          <a:noFill/>
          <a:ln w="38100">
            <a:solidFill>
              <a:srgbClr val="1E293B"/>
            </a:solidFill>
            <a:prstDash val="solid"/>
            <a:tailEnd type="triangle"/>
          </a:ln>
        </p:spPr>
      </p:sp>
      <p:sp>
        <p:nvSpPr>
          <p:cNvPr id="48" name="Text 39"/>
          <p:cNvSpPr txBox="1"/>
          <p:nvPr/>
        </p:nvSpPr>
        <p:spPr>
          <a:xfrm>
            <a:off x="3749040" y="3520440"/>
            <a:ext cx="1280160" cy="457200"/>
          </a:xfrm>
          <a:prstGeom prst="rect">
            <a:avLst/>
          </a:prstGeom>
          <a:noFill/>
          <a:ln/>
        </p:spPr>
        <p:txBody>
          <a:bodyPr wrap="square" lIns="0" tIns="0" rIns="0" bIns="0" rtlCol="0" anchor="t"/>
          <a:lstStyle/>
          <a:p>
            <a:pPr indent="0" marL="0">
              <a:buNone/>
            </a:pPr>
            <a:r>
              <a:rPr lang="en-US" sz="1150" b="1" dirty="0">
                <a:solidFill>
                  <a:srgbClr val="B91C1C"/>
                </a:solidFill>
                <a:latin typeface="Calibri" pitchFamily="34" charset="0"/>
                <a:ea typeface="Calibri" pitchFamily="34" charset="-122"/>
                <a:cs typeface="Calibri" pitchFamily="34" charset="-120"/>
              </a:rPr>
              <a:t>1  commit</a:t>
            </a:r>
            <a:endParaRPr lang="en-US" sz="1150" dirty="0"/>
          </a:p>
          <a:p>
            <a:pPr indent="0" marL="0">
              <a:buNone/>
            </a:pPr>
            <a:r>
              <a:rPr lang="en-US" sz="1150" b="1" dirty="0">
                <a:solidFill>
                  <a:srgbClr val="B91C1C"/>
                </a:solidFill>
                <a:latin typeface="Calibri" pitchFamily="34" charset="0"/>
                <a:ea typeface="Calibri" pitchFamily="34" charset="-122"/>
                <a:cs typeface="Calibri" pitchFamily="34" charset="-120"/>
              </a:rPr>
              <a:t>3  settle or cancel</a:t>
            </a:r>
            <a:endParaRPr lang="en-US" sz="1150" dirty="0"/>
          </a:p>
        </p:txBody>
      </p:sp>
      <p:sp>
        <p:nvSpPr>
          <p:cNvPr id="49" name="Text 40"/>
          <p:cNvSpPr txBox="1"/>
          <p:nvPr/>
        </p:nvSpPr>
        <p:spPr>
          <a:xfrm>
            <a:off x="4480560" y="4846320"/>
            <a:ext cx="4023360" cy="320040"/>
          </a:xfrm>
          <a:prstGeom prst="rect">
            <a:avLst/>
          </a:prstGeom>
          <a:noFill/>
          <a:ln/>
        </p:spPr>
        <p:txBody>
          <a:bodyPr wrap="square" lIns="0" tIns="0" rIns="0" bIns="0" rtlCol="0" anchor="t"/>
          <a:lstStyle/>
          <a:p>
            <a:pPr algn="ctr" indent="0" marL="0">
              <a:buNone/>
            </a:pPr>
            <a:r>
              <a:rPr lang="en-US" sz="1300" b="1" dirty="0">
                <a:solidFill>
                  <a:srgbClr val="B91C1C"/>
                </a:solidFill>
                <a:latin typeface="Calibri" pitchFamily="34" charset="0"/>
                <a:ea typeface="Calibri" pitchFamily="34" charset="-122"/>
                <a:cs typeface="Calibri" pitchFamily="34" charset="-120"/>
              </a:rPr>
              <a:t>2  baw market-order swap, natively</a:t>
            </a:r>
            <a:endParaRPr lang="en-US" sz="1300" dirty="0"/>
          </a:p>
        </p:txBody>
      </p:sp>
      <p:sp>
        <p:nvSpPr>
          <p:cNvPr id="50" name="verify bar shadow"/>
          <p:cNvSpPr/>
          <p:nvPr/>
        </p:nvSpPr>
        <p:spPr>
          <a:xfrm>
            <a:off x="822960" y="5650992"/>
            <a:ext cx="10607040" cy="566928"/>
          </a:xfrm>
          <a:prstGeom prst="roundRect">
            <a:avLst>
              <a:gd name="adj" fmla="val 16129"/>
            </a:avLst>
          </a:prstGeom>
          <a:solidFill>
            <a:srgbClr val="1E293B"/>
          </a:solidFill>
          <a:ln w="12700">
            <a:solidFill>
              <a:srgbClr val="1E293B"/>
            </a:solidFill>
            <a:prstDash val="solid"/>
          </a:ln>
        </p:spPr>
      </p:sp>
      <p:sp>
        <p:nvSpPr>
          <p:cNvPr id="51" name="verify bar"/>
          <p:cNvSpPr/>
          <p:nvPr/>
        </p:nvSpPr>
        <p:spPr>
          <a:xfrm>
            <a:off x="822960" y="5577840"/>
            <a:ext cx="10607040" cy="566928"/>
          </a:xfrm>
          <a:prstGeom prst="roundRect">
            <a:avLst>
              <a:gd name="adj" fmla="val 16129"/>
            </a:avLst>
          </a:prstGeom>
          <a:solidFill>
            <a:srgbClr val="FFFDF3"/>
          </a:solidFill>
          <a:ln w="38100">
            <a:solidFill>
              <a:srgbClr val="1E293B"/>
            </a:solidFill>
            <a:prstDash val="solid"/>
          </a:ln>
        </p:spPr>
      </p:sp>
      <p:sp>
        <p:nvSpPr>
          <p:cNvPr id="52" name="verify bar inner rule"/>
          <p:cNvSpPr/>
          <p:nvPr/>
        </p:nvSpPr>
        <p:spPr>
          <a:xfrm>
            <a:off x="886968" y="5641848"/>
            <a:ext cx="10479024" cy="438912"/>
          </a:xfrm>
          <a:prstGeom prst="roundRect">
            <a:avLst>
              <a:gd name="adj" fmla="val 14583"/>
            </a:avLst>
          </a:prstGeom>
          <a:ln w="12700">
            <a:solidFill>
              <a:srgbClr val="CBD5E1"/>
            </a:solidFill>
            <a:prstDash val="solid"/>
          </a:ln>
        </p:spPr>
      </p:sp>
      <p:sp>
        <p:nvSpPr>
          <p:cNvPr id="53" name="Text 44"/>
          <p:cNvSpPr txBox="1"/>
          <p:nvPr/>
        </p:nvSpPr>
        <p:spPr>
          <a:xfrm>
            <a:off x="1005840" y="5623560"/>
            <a:ext cx="10241280" cy="457200"/>
          </a:xfrm>
          <a:prstGeom prst="rect">
            <a:avLst/>
          </a:prstGeom>
          <a:noFill/>
          <a:ln/>
        </p:spPr>
        <p:txBody>
          <a:bodyPr wrap="square" lIns="0" tIns="0" rIns="0" bIns="0" rtlCol="0" anchor="ctr"/>
          <a:lstStyle/>
          <a:p>
            <a:pPr algn="ctr" indent="0" marL="0">
              <a:buNone/>
            </a:pPr>
            <a:r>
              <a:rPr lang="en-US" sz="1400" dirty="0">
                <a:solidFill>
                  <a:srgbClr val="1E293B"/>
                </a:solidFill>
                <a:latin typeface="Calibri" pitchFamily="34" charset="0"/>
                <a:ea typeface="Calibri" pitchFamily="34" charset="-122"/>
                <a:cs typeface="Calibri" pitchFamily="34" charset="-120"/>
              </a:rPr>
              <a:t>verify.ts and judge.ts read only chain state: every real transfer must match a settled decision.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banner shadow"/>
          <p:cNvSpPr/>
          <p:nvPr/>
        </p:nvSpPr>
        <p:spPr>
          <a:xfrm>
            <a:off x="822960" y="713232"/>
            <a:ext cx="402336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402336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3895344" cy="740664"/>
          </a:xfrm>
          <a:prstGeom prst="roundRect">
            <a:avLst>
              <a:gd name="adj" fmla="val 8642"/>
            </a:avLst>
          </a:prstGeom>
          <a:ln w="12700">
            <a:solidFill>
              <a:srgbClr val="CBD5E1"/>
            </a:solidFill>
            <a:prstDash val="solid"/>
          </a:ln>
        </p:spPr>
      </p:sp>
      <p:pic>
        <p:nvPicPr>
          <p:cNvPr id="5" name="Image 0" descr="The rules">    </p:cNvPr>
          <p:cNvPicPr>
            <a:picLocks noChangeAspect="1"/>
          </p:cNvPicPr>
          <p:nvPr/>
        </p:nvPicPr>
        <p:blipFill>
          <a:blip r:embed="rId1"/>
          <a:stretch>
            <a:fillRect/>
          </a:stretch>
        </p:blipFill>
        <p:spPr>
          <a:xfrm>
            <a:off x="1188720" y="891540"/>
            <a:ext cx="3291840" cy="365760"/>
          </a:xfrm>
          <a:prstGeom prst="rect">
            <a:avLst/>
          </a:prstGeom>
        </p:spPr>
      </p:pic>
      <p:sp>
        <p:nvSpPr>
          <p:cNvPr id="6" name="rules panel shadow"/>
          <p:cNvSpPr/>
          <p:nvPr/>
        </p:nvSpPr>
        <p:spPr>
          <a:xfrm>
            <a:off x="822960" y="1810512"/>
            <a:ext cx="7040880" cy="4434840"/>
          </a:xfrm>
          <a:prstGeom prst="roundRect">
            <a:avLst>
              <a:gd name="adj" fmla="val 2062"/>
            </a:avLst>
          </a:prstGeom>
          <a:solidFill>
            <a:srgbClr val="1E293B"/>
          </a:solidFill>
          <a:ln w="12700">
            <a:solidFill>
              <a:srgbClr val="1E293B"/>
            </a:solidFill>
            <a:prstDash val="solid"/>
          </a:ln>
        </p:spPr>
      </p:sp>
      <p:sp>
        <p:nvSpPr>
          <p:cNvPr id="7" name="rules panel"/>
          <p:cNvSpPr/>
          <p:nvPr/>
        </p:nvSpPr>
        <p:spPr>
          <a:xfrm>
            <a:off x="822960" y="1737360"/>
            <a:ext cx="7040880" cy="4434840"/>
          </a:xfrm>
          <a:prstGeom prst="roundRect">
            <a:avLst>
              <a:gd name="adj" fmla="val 2062"/>
            </a:avLst>
          </a:prstGeom>
          <a:solidFill>
            <a:srgbClr val="FFFDF3"/>
          </a:solidFill>
          <a:ln w="38100">
            <a:solidFill>
              <a:srgbClr val="1E293B"/>
            </a:solidFill>
            <a:prstDash val="solid"/>
          </a:ln>
        </p:spPr>
      </p:sp>
      <p:sp>
        <p:nvSpPr>
          <p:cNvPr id="8" name="rules panel inner rule"/>
          <p:cNvSpPr/>
          <p:nvPr/>
        </p:nvSpPr>
        <p:spPr>
          <a:xfrm>
            <a:off x="886968" y="1801368"/>
            <a:ext cx="6912864" cy="4306824"/>
          </a:xfrm>
          <a:prstGeom prst="roundRect">
            <a:avLst>
              <a:gd name="adj" fmla="val 1486"/>
            </a:avLst>
          </a:prstGeom>
          <a:ln w="12700">
            <a:solidFill>
              <a:srgbClr val="CBD5E1"/>
            </a:solidFill>
            <a:prstDash val="solid"/>
          </a:ln>
        </p:spPr>
      </p:sp>
      <p:pic>
        <p:nvPicPr>
          <p:cNvPr id="9" name="Image 1" descr="pixel monster">    </p:cNvPr>
          <p:cNvPicPr>
            <a:picLocks noChangeAspect="1"/>
          </p:cNvPicPr>
          <p:nvPr/>
        </p:nvPicPr>
        <p:blipFill>
          <a:blip r:embed="rId2"/>
          <a:stretch>
            <a:fillRect/>
          </a:stretch>
        </p:blipFill>
        <p:spPr>
          <a:xfrm>
            <a:off x="1051560" y="1956816"/>
            <a:ext cx="658368" cy="658368"/>
          </a:xfrm>
          <a:prstGeom prst="rect">
            <a:avLst/>
          </a:prstGeom>
        </p:spPr>
      </p:pic>
      <p:sp>
        <p:nvSpPr>
          <p:cNvPr id="10" name="Text 6"/>
          <p:cNvSpPr txBox="1"/>
          <p:nvPr/>
        </p:nvSpPr>
        <p:spPr>
          <a:xfrm>
            <a:off x="1920240" y="1965960"/>
            <a:ext cx="2926080" cy="64008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Token on the allowlist, by exact address</a:t>
            </a:r>
            <a:endParaRPr lang="en-US" sz="1450" dirty="0"/>
          </a:p>
        </p:txBody>
      </p:sp>
      <p:pic>
        <p:nvPicPr>
          <p:cNvPr id="11" name="Image 2" descr="monster name">    </p:cNvPr>
          <p:cNvPicPr>
            <a:picLocks noChangeAspect="1"/>
          </p:cNvPicPr>
          <p:nvPr/>
        </p:nvPicPr>
        <p:blipFill>
          <a:blip r:embed="rId3"/>
          <a:stretch>
            <a:fillRect/>
          </a:stretch>
        </p:blipFill>
        <p:spPr>
          <a:xfrm>
            <a:off x="4983480" y="2011680"/>
            <a:ext cx="2611526" cy="153619"/>
          </a:xfrm>
          <a:prstGeom prst="rect">
            <a:avLst/>
          </a:prstGeom>
        </p:spPr>
      </p:pic>
      <p:sp>
        <p:nvSpPr>
          <p:cNvPr id="12" name="Text 7"/>
          <p:cNvSpPr txBox="1"/>
          <p:nvPr/>
        </p:nvSpPr>
        <p:spPr>
          <a:xfrm>
            <a:off x="4983480" y="2286000"/>
            <a:ext cx="2834640" cy="274320"/>
          </a:xfrm>
          <a:prstGeom prst="rect">
            <a:avLst/>
          </a:prstGeom>
          <a:noFill/>
          <a:ln/>
        </p:spPr>
        <p:txBody>
          <a:bodyPr wrap="square" lIns="0" tIns="0" rIns="0" bIns="0" rtlCol="0" anchor="t"/>
          <a:lstStyle/>
          <a:p>
            <a:pPr indent="0" marL="0">
              <a:buNone/>
            </a:pPr>
            <a:r>
              <a:rPr lang="en-US" sz="1050" b="1" dirty="0">
                <a:solidFill>
                  <a:srgbClr val="B91C1C"/>
                </a:solidFill>
                <a:latin typeface="Courier New" pitchFamily="34" charset="0"/>
                <a:ea typeface="Courier New" pitchFamily="34" charset="-122"/>
                <a:cs typeface="Courier New" pitchFamily="34" charset="-120"/>
              </a:rPr>
              <a:t>TokenNotAllowed</a:t>
            </a:r>
            <a:endParaRPr lang="en-US" sz="1050" dirty="0"/>
          </a:p>
        </p:txBody>
      </p:sp>
      <p:sp>
        <p:nvSpPr>
          <p:cNvPr id="13" name="Shape 8"/>
          <p:cNvSpPr/>
          <p:nvPr/>
        </p:nvSpPr>
        <p:spPr>
          <a:xfrm>
            <a:off x="1051560" y="2670048"/>
            <a:ext cx="6583680" cy="0"/>
          </a:xfrm>
          <a:prstGeom prst="line">
            <a:avLst/>
          </a:prstGeom>
          <a:noFill/>
          <a:ln w="12700">
            <a:solidFill>
              <a:srgbClr val="CBD5E1"/>
            </a:solidFill>
            <a:prstDash val="solid"/>
          </a:ln>
        </p:spPr>
      </p:sp>
      <p:pic>
        <p:nvPicPr>
          <p:cNvPr id="14" name="Image 3" descr="pixel monster">    </p:cNvPr>
          <p:cNvPicPr>
            <a:picLocks noChangeAspect="1"/>
          </p:cNvPicPr>
          <p:nvPr/>
        </p:nvPicPr>
        <p:blipFill>
          <a:blip r:embed="rId4"/>
          <a:stretch>
            <a:fillRect/>
          </a:stretch>
        </p:blipFill>
        <p:spPr>
          <a:xfrm>
            <a:off x="1051560" y="2779776"/>
            <a:ext cx="658368" cy="658368"/>
          </a:xfrm>
          <a:prstGeom prst="rect">
            <a:avLst/>
          </a:prstGeom>
        </p:spPr>
      </p:pic>
      <p:sp>
        <p:nvSpPr>
          <p:cNvPr id="15" name="Text 9"/>
          <p:cNvSpPr txBox="1"/>
          <p:nvPr/>
        </p:nvSpPr>
        <p:spPr>
          <a:xfrm>
            <a:off x="1920240" y="2788920"/>
            <a:ext cx="2926080" cy="64008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Per-trade and daily dollar caps, and the position cap</a:t>
            </a:r>
            <a:endParaRPr lang="en-US" sz="1450" dirty="0"/>
          </a:p>
        </p:txBody>
      </p:sp>
      <p:pic>
        <p:nvPicPr>
          <p:cNvPr id="16" name="Image 4" descr="monster name">    </p:cNvPr>
          <p:cNvPicPr>
            <a:picLocks noChangeAspect="1"/>
          </p:cNvPicPr>
          <p:nvPr/>
        </p:nvPicPr>
        <p:blipFill>
          <a:blip r:embed="rId5"/>
          <a:stretch>
            <a:fillRect/>
          </a:stretch>
        </p:blipFill>
        <p:spPr>
          <a:xfrm>
            <a:off x="4983480" y="2834640"/>
            <a:ext cx="1843430" cy="153619"/>
          </a:xfrm>
          <a:prstGeom prst="rect">
            <a:avLst/>
          </a:prstGeom>
        </p:spPr>
      </p:pic>
      <p:sp>
        <p:nvSpPr>
          <p:cNvPr id="17" name="Text 10"/>
          <p:cNvSpPr txBox="1"/>
          <p:nvPr/>
        </p:nvSpPr>
        <p:spPr>
          <a:xfrm>
            <a:off x="4983480" y="3108960"/>
            <a:ext cx="2834640" cy="274320"/>
          </a:xfrm>
          <a:prstGeom prst="rect">
            <a:avLst/>
          </a:prstGeom>
          <a:noFill/>
          <a:ln/>
        </p:spPr>
        <p:txBody>
          <a:bodyPr wrap="square" lIns="0" tIns="0" rIns="0" bIns="0" rtlCol="0" anchor="t"/>
          <a:lstStyle/>
          <a:p>
            <a:pPr indent="0" marL="0">
              <a:buNone/>
            </a:pPr>
            <a:r>
              <a:rPr lang="en-US" sz="1050" b="1" dirty="0">
                <a:solidFill>
                  <a:srgbClr val="B91C1C"/>
                </a:solidFill>
                <a:latin typeface="Courier New" pitchFamily="34" charset="0"/>
                <a:ea typeface="Courier New" pitchFamily="34" charset="-122"/>
                <a:cs typeface="Courier New" pitchFamily="34" charset="-120"/>
              </a:rPr>
              <a:t>NotionalExceeded, PositionLimit</a:t>
            </a:r>
            <a:endParaRPr lang="en-US" sz="1050" dirty="0"/>
          </a:p>
        </p:txBody>
      </p:sp>
      <p:sp>
        <p:nvSpPr>
          <p:cNvPr id="18" name="Shape 11"/>
          <p:cNvSpPr/>
          <p:nvPr/>
        </p:nvSpPr>
        <p:spPr>
          <a:xfrm>
            <a:off x="1051560" y="3493008"/>
            <a:ext cx="6583680" cy="0"/>
          </a:xfrm>
          <a:prstGeom prst="line">
            <a:avLst/>
          </a:prstGeom>
          <a:noFill/>
          <a:ln w="12700">
            <a:solidFill>
              <a:srgbClr val="CBD5E1"/>
            </a:solidFill>
            <a:prstDash val="solid"/>
          </a:ln>
        </p:spPr>
      </p:sp>
      <p:pic>
        <p:nvPicPr>
          <p:cNvPr id="19" name="Image 5" descr="pixel monster">    </p:cNvPr>
          <p:cNvPicPr>
            <a:picLocks noChangeAspect="1"/>
          </p:cNvPicPr>
          <p:nvPr/>
        </p:nvPicPr>
        <p:blipFill>
          <a:blip r:embed="rId6"/>
          <a:stretch>
            <a:fillRect/>
          </a:stretch>
        </p:blipFill>
        <p:spPr>
          <a:xfrm>
            <a:off x="1051560" y="3602736"/>
            <a:ext cx="658368" cy="658368"/>
          </a:xfrm>
          <a:prstGeom prst="rect">
            <a:avLst/>
          </a:prstGeom>
        </p:spPr>
      </p:pic>
      <p:sp>
        <p:nvSpPr>
          <p:cNvPr id="20" name="Text 12"/>
          <p:cNvSpPr txBox="1"/>
          <p:nvPr/>
        </p:nvSpPr>
        <p:spPr>
          <a:xfrm>
            <a:off x="1920240" y="3611880"/>
            <a:ext cx="2926080" cy="64008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Quote and minimum output within the slippage bound</a:t>
            </a:r>
            <a:endParaRPr lang="en-US" sz="1450" dirty="0"/>
          </a:p>
        </p:txBody>
      </p:sp>
      <p:pic>
        <p:nvPicPr>
          <p:cNvPr id="21" name="Image 6" descr="monster name">    </p:cNvPr>
          <p:cNvPicPr>
            <a:picLocks noChangeAspect="1"/>
          </p:cNvPicPr>
          <p:nvPr/>
        </p:nvPicPr>
        <p:blipFill>
          <a:blip r:embed="rId7"/>
          <a:stretch>
            <a:fillRect/>
          </a:stretch>
        </p:blipFill>
        <p:spPr>
          <a:xfrm>
            <a:off x="4983480" y="3657600"/>
            <a:ext cx="2150669" cy="153619"/>
          </a:xfrm>
          <a:prstGeom prst="rect">
            <a:avLst/>
          </a:prstGeom>
        </p:spPr>
      </p:pic>
      <p:sp>
        <p:nvSpPr>
          <p:cNvPr id="22" name="Text 13"/>
          <p:cNvSpPr txBox="1"/>
          <p:nvPr/>
        </p:nvSpPr>
        <p:spPr>
          <a:xfrm>
            <a:off x="4983480" y="3931920"/>
            <a:ext cx="2834640" cy="274320"/>
          </a:xfrm>
          <a:prstGeom prst="rect">
            <a:avLst/>
          </a:prstGeom>
          <a:noFill/>
          <a:ln/>
        </p:spPr>
        <p:txBody>
          <a:bodyPr wrap="square" lIns="0" tIns="0" rIns="0" bIns="0" rtlCol="0" anchor="t"/>
          <a:lstStyle/>
          <a:p>
            <a:pPr indent="0" marL="0">
              <a:buNone/>
            </a:pPr>
            <a:r>
              <a:rPr lang="en-US" sz="1050" b="1" dirty="0">
                <a:solidFill>
                  <a:srgbClr val="B91C1C"/>
                </a:solidFill>
                <a:latin typeface="Courier New" pitchFamily="34" charset="0"/>
                <a:ea typeface="Courier New" pitchFamily="34" charset="-122"/>
                <a:cs typeface="Courier New" pitchFamily="34" charset="-120"/>
              </a:rPr>
              <a:t>SlippageTooLoose</a:t>
            </a:r>
            <a:endParaRPr lang="en-US" sz="1050" dirty="0"/>
          </a:p>
        </p:txBody>
      </p:sp>
      <p:sp>
        <p:nvSpPr>
          <p:cNvPr id="23" name="Shape 14"/>
          <p:cNvSpPr/>
          <p:nvPr/>
        </p:nvSpPr>
        <p:spPr>
          <a:xfrm>
            <a:off x="1051560" y="4315968"/>
            <a:ext cx="6583680" cy="0"/>
          </a:xfrm>
          <a:prstGeom prst="line">
            <a:avLst/>
          </a:prstGeom>
          <a:noFill/>
          <a:ln w="12700">
            <a:solidFill>
              <a:srgbClr val="CBD5E1"/>
            </a:solidFill>
            <a:prstDash val="solid"/>
          </a:ln>
        </p:spPr>
      </p:sp>
      <p:pic>
        <p:nvPicPr>
          <p:cNvPr id="24" name="Image 7" descr="pixel monster">    </p:cNvPr>
          <p:cNvPicPr>
            <a:picLocks noChangeAspect="1"/>
          </p:cNvPicPr>
          <p:nvPr/>
        </p:nvPicPr>
        <p:blipFill>
          <a:blip r:embed="rId8"/>
          <a:stretch>
            <a:fillRect/>
          </a:stretch>
        </p:blipFill>
        <p:spPr>
          <a:xfrm>
            <a:off x="1051560" y="4425696"/>
            <a:ext cx="658368" cy="658368"/>
          </a:xfrm>
          <a:prstGeom prst="rect">
            <a:avLst/>
          </a:prstGeom>
        </p:spPr>
      </p:pic>
      <p:sp>
        <p:nvSpPr>
          <p:cNvPr id="25" name="Text 15"/>
          <p:cNvSpPr txBox="1"/>
          <p:nvPr/>
        </p:nvSpPr>
        <p:spPr>
          <a:xfrm>
            <a:off x="1920240" y="4434840"/>
            <a:ext cx="2926080" cy="64008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Oracle fresh and token not halted</a:t>
            </a:r>
            <a:endParaRPr lang="en-US" sz="1450" dirty="0"/>
          </a:p>
        </p:txBody>
      </p:sp>
      <p:pic>
        <p:nvPicPr>
          <p:cNvPr id="26" name="Image 8" descr="monster name">    </p:cNvPr>
          <p:cNvPicPr>
            <a:picLocks noChangeAspect="1"/>
          </p:cNvPicPr>
          <p:nvPr/>
        </p:nvPicPr>
        <p:blipFill>
          <a:blip r:embed="rId9"/>
          <a:stretch>
            <a:fillRect/>
          </a:stretch>
        </p:blipFill>
        <p:spPr>
          <a:xfrm>
            <a:off x="4983480" y="4480560"/>
            <a:ext cx="2611526" cy="153619"/>
          </a:xfrm>
          <a:prstGeom prst="rect">
            <a:avLst/>
          </a:prstGeom>
        </p:spPr>
      </p:pic>
      <p:sp>
        <p:nvSpPr>
          <p:cNvPr id="27" name="Text 16"/>
          <p:cNvSpPr txBox="1"/>
          <p:nvPr/>
        </p:nvSpPr>
        <p:spPr>
          <a:xfrm>
            <a:off x="4983480" y="4754880"/>
            <a:ext cx="2834640" cy="274320"/>
          </a:xfrm>
          <a:prstGeom prst="rect">
            <a:avLst/>
          </a:prstGeom>
          <a:noFill/>
          <a:ln/>
        </p:spPr>
        <p:txBody>
          <a:bodyPr wrap="square" lIns="0" tIns="0" rIns="0" bIns="0" rtlCol="0" anchor="t"/>
          <a:lstStyle/>
          <a:p>
            <a:pPr indent="0" marL="0">
              <a:buNone/>
            </a:pPr>
            <a:r>
              <a:rPr lang="en-US" sz="1050" b="1" dirty="0">
                <a:solidFill>
                  <a:srgbClr val="B91C1C"/>
                </a:solidFill>
                <a:latin typeface="Courier New" pitchFamily="34" charset="0"/>
                <a:ea typeface="Courier New" pitchFamily="34" charset="-122"/>
                <a:cs typeface="Courier New" pitchFamily="34" charset="-120"/>
              </a:rPr>
              <a:t>OracleStale, OracleHalted</a:t>
            </a:r>
            <a:endParaRPr lang="en-US" sz="1050" dirty="0"/>
          </a:p>
        </p:txBody>
      </p:sp>
      <p:sp>
        <p:nvSpPr>
          <p:cNvPr id="28" name="Shape 17"/>
          <p:cNvSpPr/>
          <p:nvPr/>
        </p:nvSpPr>
        <p:spPr>
          <a:xfrm>
            <a:off x="1051560" y="5138928"/>
            <a:ext cx="6583680" cy="0"/>
          </a:xfrm>
          <a:prstGeom prst="line">
            <a:avLst/>
          </a:prstGeom>
          <a:noFill/>
          <a:ln w="12700">
            <a:solidFill>
              <a:srgbClr val="CBD5E1"/>
            </a:solidFill>
            <a:prstDash val="solid"/>
          </a:ln>
        </p:spPr>
      </p:sp>
      <p:pic>
        <p:nvPicPr>
          <p:cNvPr id="29" name="Image 9" descr="pixel monster">    </p:cNvPr>
          <p:cNvPicPr>
            <a:picLocks noChangeAspect="1"/>
          </p:cNvPicPr>
          <p:nvPr/>
        </p:nvPicPr>
        <p:blipFill>
          <a:blip r:embed="rId10"/>
          <a:stretch>
            <a:fillRect/>
          </a:stretch>
        </p:blipFill>
        <p:spPr>
          <a:xfrm>
            <a:off x="1051560" y="5248656"/>
            <a:ext cx="658368" cy="658368"/>
          </a:xfrm>
          <a:prstGeom prst="rect">
            <a:avLst/>
          </a:prstGeom>
        </p:spPr>
      </p:pic>
      <p:sp>
        <p:nvSpPr>
          <p:cNvPr id="30" name="Text 18"/>
          <p:cNvSpPr txBox="1"/>
          <p:nvPr/>
        </p:nvSpPr>
        <p:spPr>
          <a:xfrm>
            <a:off x="1920240" y="5257800"/>
            <a:ext cx="2926080" cy="640080"/>
          </a:xfrm>
          <a:prstGeom prst="rect">
            <a:avLst/>
          </a:prstGeom>
          <a:noFill/>
          <a:ln/>
        </p:spPr>
        <p:txBody>
          <a:bodyPr wrap="square" lIns="0" tIns="0" rIns="0" bIns="0" rtlCol="0" anchor="ctr"/>
          <a:lstStyle/>
          <a:p>
            <a:pPr indent="0" marL="0">
              <a:buNone/>
            </a:pPr>
            <a:r>
              <a:rPr lang="en-US" sz="1450" b="1" dirty="0">
                <a:solidFill>
                  <a:srgbClr val="1E293B"/>
                </a:solidFill>
                <a:latin typeface="Calibri" pitchFamily="34" charset="0"/>
                <a:ea typeface="Calibri" pitchFamily="34" charset="-122"/>
                <a:cs typeface="Calibri" pitchFamily="34" charset="-120"/>
              </a:rPr>
              <a:t>No buying at a weekend premium while the NYSE is shut</a:t>
            </a:r>
            <a:endParaRPr lang="en-US" sz="1450" dirty="0"/>
          </a:p>
        </p:txBody>
      </p:sp>
      <p:pic>
        <p:nvPicPr>
          <p:cNvPr id="31" name="Image 10" descr="monster name">    </p:cNvPr>
          <p:cNvPicPr>
            <a:picLocks noChangeAspect="1"/>
          </p:cNvPicPr>
          <p:nvPr/>
        </p:nvPicPr>
        <p:blipFill>
          <a:blip r:embed="rId11"/>
          <a:stretch>
            <a:fillRect/>
          </a:stretch>
        </p:blipFill>
        <p:spPr>
          <a:xfrm>
            <a:off x="4983480" y="5303520"/>
            <a:ext cx="2611526" cy="153619"/>
          </a:xfrm>
          <a:prstGeom prst="rect">
            <a:avLst/>
          </a:prstGeom>
        </p:spPr>
      </p:pic>
      <p:sp>
        <p:nvSpPr>
          <p:cNvPr id="32" name="Text 19"/>
          <p:cNvSpPr txBox="1"/>
          <p:nvPr/>
        </p:nvSpPr>
        <p:spPr>
          <a:xfrm>
            <a:off x="4983480" y="5577840"/>
            <a:ext cx="2834640" cy="274320"/>
          </a:xfrm>
          <a:prstGeom prst="rect">
            <a:avLst/>
          </a:prstGeom>
          <a:noFill/>
          <a:ln/>
        </p:spPr>
        <p:txBody>
          <a:bodyPr wrap="square" lIns="0" tIns="0" rIns="0" bIns="0" rtlCol="0" anchor="t"/>
          <a:lstStyle/>
          <a:p>
            <a:pPr indent="0" marL="0">
              <a:buNone/>
            </a:pPr>
            <a:r>
              <a:rPr lang="en-US" sz="1050" b="1" dirty="0">
                <a:solidFill>
                  <a:srgbClr val="B91C1C"/>
                </a:solidFill>
                <a:latin typeface="Courier New" pitchFamily="34" charset="0"/>
                <a:ea typeface="Courier New" pitchFamily="34" charset="-122"/>
                <a:cs typeface="Courier New" pitchFamily="34" charset="-120"/>
              </a:rPr>
              <a:t>ClosedMarketDrift</a:t>
            </a:r>
            <a:endParaRPr lang="en-US" sz="1050" dirty="0"/>
          </a:p>
        </p:txBody>
      </p:sp>
      <p:sp>
        <p:nvSpPr>
          <p:cNvPr id="33" name="screenshot frame shadow"/>
          <p:cNvSpPr/>
          <p:nvPr/>
        </p:nvSpPr>
        <p:spPr>
          <a:xfrm>
            <a:off x="8183880" y="1810512"/>
            <a:ext cx="3246120" cy="2697480"/>
          </a:xfrm>
          <a:prstGeom prst="roundRect">
            <a:avLst>
              <a:gd name="adj" fmla="val 3390"/>
            </a:avLst>
          </a:prstGeom>
          <a:solidFill>
            <a:srgbClr val="1E293B"/>
          </a:solidFill>
          <a:ln w="12700">
            <a:solidFill>
              <a:srgbClr val="1E293B"/>
            </a:solidFill>
            <a:prstDash val="solid"/>
          </a:ln>
        </p:spPr>
      </p:sp>
      <p:sp>
        <p:nvSpPr>
          <p:cNvPr id="34" name="screenshot frame"/>
          <p:cNvSpPr/>
          <p:nvPr/>
        </p:nvSpPr>
        <p:spPr>
          <a:xfrm>
            <a:off x="8183880" y="1737360"/>
            <a:ext cx="3246120" cy="2697480"/>
          </a:xfrm>
          <a:prstGeom prst="roundRect">
            <a:avLst>
              <a:gd name="adj" fmla="val 3390"/>
            </a:avLst>
          </a:prstGeom>
          <a:solidFill>
            <a:srgbClr val="1E293B"/>
          </a:solidFill>
          <a:ln w="38100">
            <a:solidFill>
              <a:srgbClr val="1E293B"/>
            </a:solidFill>
            <a:prstDash val="solid"/>
          </a:ln>
        </p:spPr>
      </p:sp>
      <p:sp>
        <p:nvSpPr>
          <p:cNvPr id="35" name="screenshot frame inner rule"/>
          <p:cNvSpPr/>
          <p:nvPr/>
        </p:nvSpPr>
        <p:spPr>
          <a:xfrm>
            <a:off x="8247888" y="1801368"/>
            <a:ext cx="3118104" cy="2569464"/>
          </a:xfrm>
          <a:prstGeom prst="roundRect">
            <a:avLst>
              <a:gd name="adj" fmla="val 2491"/>
            </a:avLst>
          </a:prstGeom>
          <a:ln w="12700">
            <a:solidFill>
              <a:srgbClr val="475569"/>
            </a:solidFill>
            <a:prstDash val="solid"/>
          </a:ln>
        </p:spPr>
      </p:sp>
      <p:pic>
        <p:nvPicPr>
          <p:cNvPr id="36" name="Image 11" descr="A denied trade in the Covenant app: TRADE BLOCKED, your money is safe">    </p:cNvPr>
          <p:cNvPicPr>
            <a:picLocks noChangeAspect="1"/>
          </p:cNvPicPr>
          <p:nvPr/>
        </p:nvPicPr>
        <p:blipFill>
          <a:blip r:embed="rId12"/>
          <a:stretch>
            <a:fillRect/>
          </a:stretch>
        </p:blipFill>
        <p:spPr>
          <a:xfrm>
            <a:off x="8321040" y="1874520"/>
            <a:ext cx="2971800" cy="2228850"/>
          </a:xfrm>
          <a:prstGeom prst="rect">
            <a:avLst/>
          </a:prstGeom>
        </p:spPr>
      </p:pic>
      <p:sp>
        <p:nvSpPr>
          <p:cNvPr id="37" name="caption panel shadow"/>
          <p:cNvSpPr/>
          <p:nvPr/>
        </p:nvSpPr>
        <p:spPr>
          <a:xfrm>
            <a:off x="8183880" y="4828032"/>
            <a:ext cx="3246120" cy="1417320"/>
          </a:xfrm>
          <a:prstGeom prst="roundRect">
            <a:avLst>
              <a:gd name="adj" fmla="val 6452"/>
            </a:avLst>
          </a:prstGeom>
          <a:solidFill>
            <a:srgbClr val="1E293B"/>
          </a:solidFill>
          <a:ln w="12700">
            <a:solidFill>
              <a:srgbClr val="1E293B"/>
            </a:solidFill>
            <a:prstDash val="solid"/>
          </a:ln>
        </p:spPr>
      </p:sp>
      <p:sp>
        <p:nvSpPr>
          <p:cNvPr id="38" name="caption panel"/>
          <p:cNvSpPr/>
          <p:nvPr/>
        </p:nvSpPr>
        <p:spPr>
          <a:xfrm>
            <a:off x="8183880" y="4754880"/>
            <a:ext cx="3246120" cy="1417320"/>
          </a:xfrm>
          <a:prstGeom prst="roundRect">
            <a:avLst>
              <a:gd name="adj" fmla="val 6452"/>
            </a:avLst>
          </a:prstGeom>
          <a:solidFill>
            <a:srgbClr val="FFFDF3"/>
          </a:solidFill>
          <a:ln w="38100">
            <a:solidFill>
              <a:srgbClr val="1E293B"/>
            </a:solidFill>
            <a:prstDash val="solid"/>
          </a:ln>
        </p:spPr>
      </p:sp>
      <p:sp>
        <p:nvSpPr>
          <p:cNvPr id="39" name="caption panel inner rule"/>
          <p:cNvSpPr/>
          <p:nvPr/>
        </p:nvSpPr>
        <p:spPr>
          <a:xfrm>
            <a:off x="8247888" y="4818888"/>
            <a:ext cx="3118104" cy="1289304"/>
          </a:xfrm>
          <a:prstGeom prst="roundRect">
            <a:avLst>
              <a:gd name="adj" fmla="val 4965"/>
            </a:avLst>
          </a:prstGeom>
          <a:ln w="12700">
            <a:solidFill>
              <a:srgbClr val="CBD5E1"/>
            </a:solidFill>
            <a:prstDash val="solid"/>
          </a:ln>
        </p:spPr>
      </p:sp>
      <p:sp>
        <p:nvSpPr>
          <p:cNvPr id="40" name="Text 26"/>
          <p:cNvSpPr txBox="1"/>
          <p:nvPr/>
        </p:nvSpPr>
        <p:spPr>
          <a:xfrm>
            <a:off x="8366760" y="4892040"/>
            <a:ext cx="2880360" cy="118872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Denials don't revert. A reverted transaction discards its own event, so Covenant records the refusal and returns.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banner shadow"/>
          <p:cNvSpPr/>
          <p:nvPr/>
        </p:nvSpPr>
        <p:spPr>
          <a:xfrm>
            <a:off x="822960" y="713232"/>
            <a:ext cx="438912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438912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4261104" cy="740664"/>
          </a:xfrm>
          <a:prstGeom prst="roundRect">
            <a:avLst>
              <a:gd name="adj" fmla="val 8642"/>
            </a:avLst>
          </a:prstGeom>
          <a:ln w="12700">
            <a:solidFill>
              <a:srgbClr val="CBD5E1"/>
            </a:solidFill>
            <a:prstDash val="solid"/>
          </a:ln>
        </p:spPr>
      </p:sp>
      <p:pic>
        <p:nvPicPr>
          <p:cNvPr id="5" name="Image 0" descr="See it run">    </p:cNvPr>
          <p:cNvPicPr>
            <a:picLocks noChangeAspect="1"/>
          </p:cNvPicPr>
          <p:nvPr/>
        </p:nvPicPr>
        <p:blipFill>
          <a:blip r:embed="rId1"/>
          <a:stretch>
            <a:fillRect/>
          </a:stretch>
        </p:blipFill>
        <p:spPr>
          <a:xfrm>
            <a:off x="1188720" y="891540"/>
            <a:ext cx="3657600" cy="365760"/>
          </a:xfrm>
          <a:prstGeom prst="rect">
            <a:avLst/>
          </a:prstGeom>
        </p:spPr>
      </p:pic>
      <p:sp>
        <p:nvSpPr>
          <p:cNvPr id="6" name="demo text shadow"/>
          <p:cNvSpPr/>
          <p:nvPr/>
        </p:nvSpPr>
        <p:spPr>
          <a:xfrm>
            <a:off x="822960" y="1856232"/>
            <a:ext cx="5669280" cy="4251960"/>
          </a:xfrm>
          <a:prstGeom prst="roundRect">
            <a:avLst>
              <a:gd name="adj" fmla="val 2151"/>
            </a:avLst>
          </a:prstGeom>
          <a:solidFill>
            <a:srgbClr val="1E293B"/>
          </a:solidFill>
          <a:ln w="12700">
            <a:solidFill>
              <a:srgbClr val="1E293B"/>
            </a:solidFill>
            <a:prstDash val="solid"/>
          </a:ln>
        </p:spPr>
      </p:sp>
      <p:sp>
        <p:nvSpPr>
          <p:cNvPr id="7" name="demo text"/>
          <p:cNvSpPr/>
          <p:nvPr/>
        </p:nvSpPr>
        <p:spPr>
          <a:xfrm>
            <a:off x="822960" y="1783080"/>
            <a:ext cx="5669280" cy="4251960"/>
          </a:xfrm>
          <a:prstGeom prst="roundRect">
            <a:avLst>
              <a:gd name="adj" fmla="val 2151"/>
            </a:avLst>
          </a:prstGeom>
          <a:solidFill>
            <a:srgbClr val="FFFDF3"/>
          </a:solidFill>
          <a:ln w="38100">
            <a:solidFill>
              <a:srgbClr val="1E293B"/>
            </a:solidFill>
            <a:prstDash val="solid"/>
          </a:ln>
        </p:spPr>
      </p:sp>
      <p:sp>
        <p:nvSpPr>
          <p:cNvPr id="8" name="demo text inner rule"/>
          <p:cNvSpPr/>
          <p:nvPr/>
        </p:nvSpPr>
        <p:spPr>
          <a:xfrm>
            <a:off x="886968" y="1847088"/>
            <a:ext cx="5541264" cy="4123944"/>
          </a:xfrm>
          <a:prstGeom prst="roundRect">
            <a:avLst>
              <a:gd name="adj" fmla="val 1552"/>
            </a:avLst>
          </a:prstGeom>
          <a:ln w="12700">
            <a:solidFill>
              <a:srgbClr val="CBD5E1"/>
            </a:solidFill>
            <a:prstDash val="solid"/>
          </a:ln>
        </p:spPr>
      </p:sp>
      <p:sp>
        <p:nvSpPr>
          <p:cNvPr id="9" name="Text 6"/>
          <p:cNvSpPr txBox="1"/>
          <p:nvPr/>
        </p:nvSpPr>
        <p:spPr>
          <a:xfrm>
            <a:off x="1188720" y="2057400"/>
            <a:ext cx="4937760" cy="731520"/>
          </a:xfrm>
          <a:prstGeom prst="rect">
            <a:avLst/>
          </a:prstGeom>
          <a:noFill/>
          <a:ln/>
        </p:spPr>
        <p:txBody>
          <a:bodyPr wrap="square" lIns="0" tIns="0" rIns="0" bIns="0" rtlCol="0" anchor="t"/>
          <a:lstStyle/>
          <a:p>
            <a:pPr indent="0" marL="0">
              <a:buNone/>
            </a:pPr>
            <a:r>
              <a:rPr lang="en-US" sz="1900" dirty="0">
                <a:solidFill>
                  <a:srgbClr val="64748B"/>
                </a:solidFill>
                <a:latin typeface="Calibri" pitchFamily="34" charset="0"/>
                <a:ea typeface="Calibri" pitchFamily="34" charset="-122"/>
                <a:cs typeface="Calibri" pitchFamily="34" charset="-120"/>
              </a:rPr>
              <a:t>The real mainnet ledger, played back as a game.</a:t>
            </a:r>
            <a:endParaRPr lang="en-US" sz="1900" dirty="0"/>
          </a:p>
        </p:txBody>
      </p:sp>
      <p:sp>
        <p:nvSpPr>
          <p:cNvPr id="10" name="Text 7"/>
          <p:cNvSpPr txBox="1"/>
          <p:nvPr/>
        </p:nvSpPr>
        <p:spPr>
          <a:xfrm>
            <a:off x="1188720" y="2788920"/>
            <a:ext cx="5029200" cy="548640"/>
          </a:xfrm>
          <a:prstGeom prst="rect">
            <a:avLst/>
          </a:prstGeom>
          <a:noFill/>
          <a:ln/>
        </p:spPr>
        <p:txBody>
          <a:bodyPr wrap="square" lIns="0" tIns="0" rIns="0" bIns="0" rtlCol="0" anchor="t"/>
          <a:lstStyle/>
          <a:p>
            <a:pPr indent="0" marL="0">
              <a:buNone/>
            </a:pPr>
            <a:r>
              <a:rPr lang="en-US" sz="2500" b="1" dirty="0">
                <a:solidFill>
                  <a:srgbClr val="0369A1"/>
                </a:solidFill>
                <a:latin typeface="Calibri" pitchFamily="34" charset="0"/>
                <a:ea typeface="Calibri" pitchFamily="34" charset="-122"/>
                <a:cs typeface="Calibri" pitchFamily="34" charset="-120"/>
              </a:rPr>
              <a:t>covenant-eight-self.vercel.app</a:t>
            </a:r>
            <a:endParaRPr lang="en-US" sz="2500" dirty="0"/>
          </a:p>
        </p:txBody>
      </p:sp>
      <p:sp>
        <p:nvSpPr>
          <p:cNvPr id="11" name="dot"/>
          <p:cNvSpPr/>
          <p:nvPr/>
        </p:nvSpPr>
        <p:spPr>
          <a:xfrm>
            <a:off x="1188720" y="3721608"/>
            <a:ext cx="274320" cy="274320"/>
          </a:xfrm>
          <a:prstGeom prst="ellipse">
            <a:avLst/>
          </a:prstGeom>
          <a:solidFill>
            <a:srgbClr val="15803D"/>
          </a:solidFill>
          <a:ln w="25400">
            <a:solidFill>
              <a:srgbClr val="1E293B"/>
            </a:solidFill>
            <a:prstDash val="solid"/>
          </a:ln>
        </p:spPr>
      </p:sp>
      <p:sp>
        <p:nvSpPr>
          <p:cNvPr id="12" name="Text 9"/>
          <p:cNvSpPr txBox="1"/>
          <p:nvPr/>
        </p:nvSpPr>
        <p:spPr>
          <a:xfrm>
            <a:off x="1645920" y="3611880"/>
            <a:ext cx="4572000" cy="6400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trade that follows the rules wins its battle and goes through.</a:t>
            </a:r>
            <a:endParaRPr lang="en-US" sz="1600" dirty="0"/>
          </a:p>
        </p:txBody>
      </p:sp>
      <p:sp>
        <p:nvSpPr>
          <p:cNvPr id="13" name="dot"/>
          <p:cNvSpPr/>
          <p:nvPr/>
        </p:nvSpPr>
        <p:spPr>
          <a:xfrm>
            <a:off x="1188720" y="4498848"/>
            <a:ext cx="274320" cy="274320"/>
          </a:xfrm>
          <a:prstGeom prst="ellipse">
            <a:avLst/>
          </a:prstGeom>
          <a:solidFill>
            <a:srgbClr val="B91C1C"/>
          </a:solidFill>
          <a:ln w="25400">
            <a:solidFill>
              <a:srgbClr val="1E293B"/>
            </a:solidFill>
            <a:prstDash val="solid"/>
          </a:ln>
        </p:spPr>
      </p:sp>
      <p:sp>
        <p:nvSpPr>
          <p:cNvPr id="14" name="Text 11"/>
          <p:cNvSpPr txBox="1"/>
          <p:nvPr/>
        </p:nvSpPr>
        <p:spPr>
          <a:xfrm>
            <a:off x="1645920" y="4389120"/>
            <a:ext cx="4572000" cy="6400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A trade that breaks a rule is blocked, and the refusal is recorded.</a:t>
            </a:r>
            <a:endParaRPr lang="en-US" sz="1600" dirty="0"/>
          </a:p>
        </p:txBody>
      </p:sp>
      <p:sp>
        <p:nvSpPr>
          <p:cNvPr id="15" name="dot"/>
          <p:cNvSpPr/>
          <p:nvPr/>
        </p:nvSpPr>
        <p:spPr>
          <a:xfrm>
            <a:off x="1188720" y="5276088"/>
            <a:ext cx="274320" cy="274320"/>
          </a:xfrm>
          <a:prstGeom prst="ellipse">
            <a:avLst/>
          </a:prstGeom>
          <a:solidFill>
            <a:srgbClr val="0284C7"/>
          </a:solidFill>
          <a:ln w="25400">
            <a:solidFill>
              <a:srgbClr val="1E293B"/>
            </a:solidFill>
            <a:prstDash val="solid"/>
          </a:ln>
        </p:spPr>
      </p:sp>
      <p:sp>
        <p:nvSpPr>
          <p:cNvPr id="16" name="Text 13"/>
          <p:cNvSpPr txBox="1"/>
          <p:nvPr/>
        </p:nvSpPr>
        <p:spPr>
          <a:xfrm>
            <a:off x="1645920" y="5166360"/>
            <a:ext cx="4572000" cy="64008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Every battle is a real decision read from BNB Smart Chain.</a:t>
            </a:r>
            <a:endParaRPr lang="en-US" sz="1600" dirty="0"/>
          </a:p>
        </p:txBody>
      </p:sp>
      <p:sp>
        <p:nvSpPr>
          <p:cNvPr id="17" name="app frame shadow"/>
          <p:cNvSpPr/>
          <p:nvPr/>
        </p:nvSpPr>
        <p:spPr>
          <a:xfrm>
            <a:off x="6766560" y="1856232"/>
            <a:ext cx="4663440" cy="3611880"/>
          </a:xfrm>
          <a:prstGeom prst="roundRect">
            <a:avLst>
              <a:gd name="adj" fmla="val 2532"/>
            </a:avLst>
          </a:prstGeom>
          <a:solidFill>
            <a:srgbClr val="1E293B"/>
          </a:solidFill>
          <a:ln w="12700">
            <a:solidFill>
              <a:srgbClr val="1E293B"/>
            </a:solidFill>
            <a:prstDash val="solid"/>
          </a:ln>
        </p:spPr>
      </p:sp>
      <p:sp>
        <p:nvSpPr>
          <p:cNvPr id="18" name="app frame"/>
          <p:cNvSpPr/>
          <p:nvPr/>
        </p:nvSpPr>
        <p:spPr>
          <a:xfrm>
            <a:off x="6766560" y="1783080"/>
            <a:ext cx="4663440" cy="3611880"/>
          </a:xfrm>
          <a:prstGeom prst="roundRect">
            <a:avLst>
              <a:gd name="adj" fmla="val 2532"/>
            </a:avLst>
          </a:prstGeom>
          <a:solidFill>
            <a:srgbClr val="1E293B"/>
          </a:solidFill>
          <a:ln w="38100">
            <a:solidFill>
              <a:srgbClr val="1E293B"/>
            </a:solidFill>
            <a:prstDash val="solid"/>
          </a:ln>
        </p:spPr>
      </p:sp>
      <p:sp>
        <p:nvSpPr>
          <p:cNvPr id="19" name="app frame inner rule"/>
          <p:cNvSpPr/>
          <p:nvPr/>
        </p:nvSpPr>
        <p:spPr>
          <a:xfrm>
            <a:off x="6830568" y="1847088"/>
            <a:ext cx="4535424" cy="3483864"/>
          </a:xfrm>
          <a:prstGeom prst="roundRect">
            <a:avLst>
              <a:gd name="adj" fmla="val 1837"/>
            </a:avLst>
          </a:prstGeom>
          <a:ln w="12700">
            <a:solidFill>
              <a:srgbClr val="475569"/>
            </a:solidFill>
            <a:prstDash val="solid"/>
          </a:ln>
        </p:spPr>
      </p:sp>
      <p:pic>
        <p:nvPicPr>
          <p:cNvPr id="20" name="Image 1" descr="The live Covenant app: the town map and the WATCH THE 5 TRADES button">    </p:cNvPr>
          <p:cNvPicPr>
            <a:picLocks noChangeAspect="1"/>
          </p:cNvPicPr>
          <p:nvPr/>
        </p:nvPicPr>
        <p:blipFill>
          <a:blip r:embed="rId2"/>
          <a:stretch>
            <a:fillRect/>
          </a:stretch>
        </p:blipFill>
        <p:spPr>
          <a:xfrm>
            <a:off x="6903720" y="1920240"/>
            <a:ext cx="4389120" cy="3291840"/>
          </a:xfrm>
          <a:prstGeom prst="rect">
            <a:avLst/>
          </a:prstGeom>
        </p:spPr>
      </p:pic>
      <p:sp>
        <p:nvSpPr>
          <p:cNvPr id="21" name="snapshot note shadow"/>
          <p:cNvSpPr/>
          <p:nvPr/>
        </p:nvSpPr>
        <p:spPr>
          <a:xfrm>
            <a:off x="6766560" y="5605272"/>
            <a:ext cx="4663440" cy="640080"/>
          </a:xfrm>
          <a:prstGeom prst="roundRect">
            <a:avLst>
              <a:gd name="adj" fmla="val 14286"/>
            </a:avLst>
          </a:prstGeom>
          <a:solidFill>
            <a:srgbClr val="1E293B"/>
          </a:solidFill>
          <a:ln w="12700">
            <a:solidFill>
              <a:srgbClr val="1E293B"/>
            </a:solidFill>
            <a:prstDash val="solid"/>
          </a:ln>
        </p:spPr>
      </p:sp>
      <p:sp>
        <p:nvSpPr>
          <p:cNvPr id="22" name="snapshot note"/>
          <p:cNvSpPr/>
          <p:nvPr/>
        </p:nvSpPr>
        <p:spPr>
          <a:xfrm>
            <a:off x="6766560" y="5532120"/>
            <a:ext cx="4663440" cy="640080"/>
          </a:xfrm>
          <a:prstGeom prst="roundRect">
            <a:avLst>
              <a:gd name="adj" fmla="val 14286"/>
            </a:avLst>
          </a:prstGeom>
          <a:solidFill>
            <a:srgbClr val="FFFDF3"/>
          </a:solidFill>
          <a:ln w="38100">
            <a:solidFill>
              <a:srgbClr val="1E293B"/>
            </a:solidFill>
            <a:prstDash val="solid"/>
          </a:ln>
        </p:spPr>
      </p:sp>
      <p:sp>
        <p:nvSpPr>
          <p:cNvPr id="23" name="snapshot note inner rule"/>
          <p:cNvSpPr/>
          <p:nvPr/>
        </p:nvSpPr>
        <p:spPr>
          <a:xfrm>
            <a:off x="6830568" y="5596128"/>
            <a:ext cx="4535424" cy="512064"/>
          </a:xfrm>
          <a:prstGeom prst="roundRect">
            <a:avLst>
              <a:gd name="adj" fmla="val 12500"/>
            </a:avLst>
          </a:prstGeom>
          <a:ln w="12700">
            <a:solidFill>
              <a:srgbClr val="CBD5E1"/>
            </a:solidFill>
            <a:prstDash val="solid"/>
          </a:ln>
        </p:spPr>
      </p:sp>
      <p:sp>
        <p:nvSpPr>
          <p:cNvPr id="24" name="Text 20"/>
          <p:cNvSpPr txBox="1"/>
          <p:nvPr/>
        </p:nvSpPr>
        <p:spPr>
          <a:xfrm>
            <a:off x="6903720" y="5577840"/>
            <a:ext cx="4389120" cy="548640"/>
          </a:xfrm>
          <a:prstGeom prst="rect">
            <a:avLst/>
          </a:prstGeom>
          <a:noFill/>
          <a:ln/>
        </p:spPr>
        <p:txBody>
          <a:bodyPr wrap="square" lIns="0" tIns="0" rIns="0" bIns="0" rtlCol="0" anchor="ctr"/>
          <a:lstStyle/>
          <a:p>
            <a:pPr algn="ctr" indent="0" marL="0">
              <a:buNone/>
            </a:pPr>
            <a:r>
              <a:rPr lang="en-US" sz="1250" dirty="0">
                <a:solidFill>
                  <a:srgbClr val="64748B"/>
                </a:solidFill>
                <a:latin typeface="Calibri" pitchFamily="34" charset="0"/>
                <a:ea typeface="Calibri" pitchFamily="34" charset="-122"/>
                <a:cs typeface="Calibri" pitchFamily="34" charset="-120"/>
              </a:rPr>
              <a:t>It opens on a snapshot of the real ledger. LOAD re-reads the chain live.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banner shadow"/>
          <p:cNvSpPr/>
          <p:nvPr/>
        </p:nvSpPr>
        <p:spPr>
          <a:xfrm>
            <a:off x="822960" y="713232"/>
            <a:ext cx="768096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768096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7552944" cy="740664"/>
          </a:xfrm>
          <a:prstGeom prst="roundRect">
            <a:avLst>
              <a:gd name="adj" fmla="val 8642"/>
            </a:avLst>
          </a:prstGeom>
          <a:ln w="12700">
            <a:solidFill>
              <a:srgbClr val="CBD5E1"/>
            </a:solidFill>
            <a:prstDash val="solid"/>
          </a:ln>
        </p:spPr>
      </p:sp>
      <p:pic>
        <p:nvPicPr>
          <p:cNvPr id="5" name="Image 0" descr="Live on BSC mainnet">    </p:cNvPr>
          <p:cNvPicPr>
            <a:picLocks noChangeAspect="1"/>
          </p:cNvPicPr>
          <p:nvPr/>
        </p:nvPicPr>
        <p:blipFill>
          <a:blip r:embed="rId1"/>
          <a:stretch>
            <a:fillRect/>
          </a:stretch>
        </p:blipFill>
        <p:spPr>
          <a:xfrm>
            <a:off x="1188720" y="891540"/>
            <a:ext cx="6949440" cy="365760"/>
          </a:xfrm>
          <a:prstGeom prst="rect">
            <a:avLst/>
          </a:prstGeom>
        </p:spPr>
      </p:pic>
      <p:sp>
        <p:nvSpPr>
          <p:cNvPr id="6" name="stat 1 shadow"/>
          <p:cNvSpPr/>
          <p:nvPr/>
        </p:nvSpPr>
        <p:spPr>
          <a:xfrm>
            <a:off x="822960" y="1856232"/>
            <a:ext cx="4023360" cy="1234440"/>
          </a:xfrm>
          <a:prstGeom prst="roundRect">
            <a:avLst>
              <a:gd name="adj" fmla="val 7407"/>
            </a:avLst>
          </a:prstGeom>
          <a:solidFill>
            <a:srgbClr val="1E293B"/>
          </a:solidFill>
          <a:ln w="12700">
            <a:solidFill>
              <a:srgbClr val="1E293B"/>
            </a:solidFill>
            <a:prstDash val="solid"/>
          </a:ln>
        </p:spPr>
      </p:sp>
      <p:sp>
        <p:nvSpPr>
          <p:cNvPr id="7" name="stat 1"/>
          <p:cNvSpPr/>
          <p:nvPr/>
        </p:nvSpPr>
        <p:spPr>
          <a:xfrm>
            <a:off x="822960" y="1783080"/>
            <a:ext cx="4023360" cy="1234440"/>
          </a:xfrm>
          <a:prstGeom prst="roundRect">
            <a:avLst>
              <a:gd name="adj" fmla="val 7407"/>
            </a:avLst>
          </a:prstGeom>
          <a:solidFill>
            <a:srgbClr val="FFFDF3"/>
          </a:solidFill>
          <a:ln w="38100">
            <a:solidFill>
              <a:srgbClr val="1E293B"/>
            </a:solidFill>
            <a:prstDash val="solid"/>
          </a:ln>
        </p:spPr>
      </p:sp>
      <p:sp>
        <p:nvSpPr>
          <p:cNvPr id="8" name="stat 1 inner rule"/>
          <p:cNvSpPr/>
          <p:nvPr/>
        </p:nvSpPr>
        <p:spPr>
          <a:xfrm>
            <a:off x="886968" y="1847088"/>
            <a:ext cx="3895344" cy="1106424"/>
          </a:xfrm>
          <a:prstGeom prst="roundRect">
            <a:avLst>
              <a:gd name="adj" fmla="val 5785"/>
            </a:avLst>
          </a:prstGeom>
          <a:ln w="12700">
            <a:solidFill>
              <a:srgbClr val="CBD5E1"/>
            </a:solidFill>
            <a:prstDash val="solid"/>
          </a:ln>
        </p:spPr>
      </p:sp>
      <p:pic>
        <p:nvPicPr>
          <p:cNvPr id="9" name="Image 1" descr="decisions on mainnet">    </p:cNvPr>
          <p:cNvPicPr>
            <a:picLocks noChangeAspect="1"/>
          </p:cNvPicPr>
          <p:nvPr/>
        </p:nvPicPr>
        <p:blipFill>
          <a:blip r:embed="rId2"/>
          <a:stretch>
            <a:fillRect/>
          </a:stretch>
        </p:blipFill>
        <p:spPr>
          <a:xfrm>
            <a:off x="1097280" y="2194560"/>
            <a:ext cx="365760" cy="365760"/>
          </a:xfrm>
          <a:prstGeom prst="rect">
            <a:avLst/>
          </a:prstGeom>
        </p:spPr>
      </p:pic>
      <p:sp>
        <p:nvSpPr>
          <p:cNvPr id="10" name="Text 6"/>
          <p:cNvSpPr txBox="1"/>
          <p:nvPr/>
        </p:nvSpPr>
        <p:spPr>
          <a:xfrm>
            <a:off x="3337560" y="1965960"/>
            <a:ext cx="1371600" cy="86868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decisions on mainnet</a:t>
            </a:r>
            <a:endParaRPr lang="en-US" sz="1250" dirty="0"/>
          </a:p>
        </p:txBody>
      </p:sp>
      <p:sp>
        <p:nvSpPr>
          <p:cNvPr id="11" name="stat 2 shadow"/>
          <p:cNvSpPr/>
          <p:nvPr/>
        </p:nvSpPr>
        <p:spPr>
          <a:xfrm>
            <a:off x="822960" y="3273552"/>
            <a:ext cx="4023360" cy="1234440"/>
          </a:xfrm>
          <a:prstGeom prst="roundRect">
            <a:avLst>
              <a:gd name="adj" fmla="val 7407"/>
            </a:avLst>
          </a:prstGeom>
          <a:solidFill>
            <a:srgbClr val="1E293B"/>
          </a:solidFill>
          <a:ln w="12700">
            <a:solidFill>
              <a:srgbClr val="1E293B"/>
            </a:solidFill>
            <a:prstDash val="solid"/>
          </a:ln>
        </p:spPr>
      </p:sp>
      <p:sp>
        <p:nvSpPr>
          <p:cNvPr id="12" name="stat 2"/>
          <p:cNvSpPr/>
          <p:nvPr/>
        </p:nvSpPr>
        <p:spPr>
          <a:xfrm>
            <a:off x="822960" y="3200400"/>
            <a:ext cx="4023360" cy="1234440"/>
          </a:xfrm>
          <a:prstGeom prst="roundRect">
            <a:avLst>
              <a:gd name="adj" fmla="val 7407"/>
            </a:avLst>
          </a:prstGeom>
          <a:solidFill>
            <a:srgbClr val="FFFDF3"/>
          </a:solidFill>
          <a:ln w="38100">
            <a:solidFill>
              <a:srgbClr val="1E293B"/>
            </a:solidFill>
            <a:prstDash val="solid"/>
          </a:ln>
        </p:spPr>
      </p:sp>
      <p:sp>
        <p:nvSpPr>
          <p:cNvPr id="13" name="stat 2 inner rule"/>
          <p:cNvSpPr/>
          <p:nvPr/>
        </p:nvSpPr>
        <p:spPr>
          <a:xfrm>
            <a:off x="886968" y="3264408"/>
            <a:ext cx="3895344" cy="1106424"/>
          </a:xfrm>
          <a:prstGeom prst="roundRect">
            <a:avLst>
              <a:gd name="adj" fmla="val 5785"/>
            </a:avLst>
          </a:prstGeom>
          <a:ln w="12700">
            <a:solidFill>
              <a:srgbClr val="CBD5E1"/>
            </a:solidFill>
            <a:prstDash val="solid"/>
          </a:ln>
        </p:spPr>
      </p:sp>
      <p:pic>
        <p:nvPicPr>
          <p:cNvPr id="14" name="Image 2" descr="transactions re-read from chain by judge">    </p:cNvPr>
          <p:cNvPicPr>
            <a:picLocks noChangeAspect="1"/>
          </p:cNvPicPr>
          <p:nvPr/>
        </p:nvPicPr>
        <p:blipFill>
          <a:blip r:embed="rId3"/>
          <a:stretch>
            <a:fillRect/>
          </a:stretch>
        </p:blipFill>
        <p:spPr>
          <a:xfrm>
            <a:off x="1097280" y="3611880"/>
            <a:ext cx="1828800" cy="365760"/>
          </a:xfrm>
          <a:prstGeom prst="rect">
            <a:avLst/>
          </a:prstGeom>
        </p:spPr>
      </p:pic>
      <p:sp>
        <p:nvSpPr>
          <p:cNvPr id="15" name="Text 10"/>
          <p:cNvSpPr txBox="1"/>
          <p:nvPr/>
        </p:nvSpPr>
        <p:spPr>
          <a:xfrm>
            <a:off x="3337560" y="3383280"/>
            <a:ext cx="1371600" cy="86868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transactions re-read from chain by judge</a:t>
            </a:r>
            <a:endParaRPr lang="en-US" sz="1250" dirty="0"/>
          </a:p>
        </p:txBody>
      </p:sp>
      <p:sp>
        <p:nvSpPr>
          <p:cNvPr id="16" name="stat 3 shadow"/>
          <p:cNvSpPr/>
          <p:nvPr/>
        </p:nvSpPr>
        <p:spPr>
          <a:xfrm>
            <a:off x="822960" y="4690872"/>
            <a:ext cx="4023360" cy="1234440"/>
          </a:xfrm>
          <a:prstGeom prst="roundRect">
            <a:avLst>
              <a:gd name="adj" fmla="val 7407"/>
            </a:avLst>
          </a:prstGeom>
          <a:solidFill>
            <a:srgbClr val="1E293B"/>
          </a:solidFill>
          <a:ln w="12700">
            <a:solidFill>
              <a:srgbClr val="1E293B"/>
            </a:solidFill>
            <a:prstDash val="solid"/>
          </a:ln>
        </p:spPr>
      </p:sp>
      <p:sp>
        <p:nvSpPr>
          <p:cNvPr id="17" name="stat 3"/>
          <p:cNvSpPr/>
          <p:nvPr/>
        </p:nvSpPr>
        <p:spPr>
          <a:xfrm>
            <a:off x="822960" y="4617720"/>
            <a:ext cx="4023360" cy="1234440"/>
          </a:xfrm>
          <a:prstGeom prst="roundRect">
            <a:avLst>
              <a:gd name="adj" fmla="val 7407"/>
            </a:avLst>
          </a:prstGeom>
          <a:solidFill>
            <a:srgbClr val="FFFDF3"/>
          </a:solidFill>
          <a:ln w="38100">
            <a:solidFill>
              <a:srgbClr val="1E293B"/>
            </a:solidFill>
            <a:prstDash val="solid"/>
          </a:ln>
        </p:spPr>
      </p:sp>
      <p:sp>
        <p:nvSpPr>
          <p:cNvPr id="18" name="stat 3 inner rule"/>
          <p:cNvSpPr/>
          <p:nvPr/>
        </p:nvSpPr>
        <p:spPr>
          <a:xfrm>
            <a:off x="886968" y="4681728"/>
            <a:ext cx="3895344" cy="1106424"/>
          </a:xfrm>
          <a:prstGeom prst="roundRect">
            <a:avLst>
              <a:gd name="adj" fmla="val 5785"/>
            </a:avLst>
          </a:prstGeom>
          <a:ln w="12700">
            <a:solidFill>
              <a:srgbClr val="CBD5E1"/>
            </a:solidFill>
            <a:prstDash val="solid"/>
          </a:ln>
        </p:spPr>
      </p:sp>
      <p:pic>
        <p:nvPicPr>
          <p:cNvPr id="19" name="Image 3" descr="trades matched, one flagged">    </p:cNvPr>
          <p:cNvPicPr>
            <a:picLocks noChangeAspect="1"/>
          </p:cNvPicPr>
          <p:nvPr/>
        </p:nvPicPr>
        <p:blipFill>
          <a:blip r:embed="rId4"/>
          <a:stretch>
            <a:fillRect/>
          </a:stretch>
        </p:blipFill>
        <p:spPr>
          <a:xfrm>
            <a:off x="1097280" y="5029200"/>
            <a:ext cx="1828800" cy="365760"/>
          </a:xfrm>
          <a:prstGeom prst="rect">
            <a:avLst/>
          </a:prstGeom>
        </p:spPr>
      </p:pic>
      <p:sp>
        <p:nvSpPr>
          <p:cNvPr id="20" name="Text 14"/>
          <p:cNvSpPr txBox="1"/>
          <p:nvPr/>
        </p:nvSpPr>
        <p:spPr>
          <a:xfrm>
            <a:off x="3337560" y="4800600"/>
            <a:ext cx="1371600" cy="86868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trades matched, one flagged</a:t>
            </a:r>
            <a:endParaRPr lang="en-US" sz="1250" dirty="0"/>
          </a:p>
        </p:txBody>
      </p:sp>
      <p:sp>
        <p:nvSpPr>
          <p:cNvPr id="21" name="decisions table shadow"/>
          <p:cNvSpPr/>
          <p:nvPr/>
        </p:nvSpPr>
        <p:spPr>
          <a:xfrm>
            <a:off x="5120640" y="1856232"/>
            <a:ext cx="6309360" cy="3063240"/>
          </a:xfrm>
          <a:prstGeom prst="roundRect">
            <a:avLst>
              <a:gd name="adj" fmla="val 2985"/>
            </a:avLst>
          </a:prstGeom>
          <a:solidFill>
            <a:srgbClr val="1E293B"/>
          </a:solidFill>
          <a:ln w="12700">
            <a:solidFill>
              <a:srgbClr val="1E293B"/>
            </a:solidFill>
            <a:prstDash val="solid"/>
          </a:ln>
        </p:spPr>
      </p:sp>
      <p:sp>
        <p:nvSpPr>
          <p:cNvPr id="22" name="decisions table"/>
          <p:cNvSpPr/>
          <p:nvPr/>
        </p:nvSpPr>
        <p:spPr>
          <a:xfrm>
            <a:off x="5120640" y="1783080"/>
            <a:ext cx="6309360" cy="3063240"/>
          </a:xfrm>
          <a:prstGeom prst="roundRect">
            <a:avLst>
              <a:gd name="adj" fmla="val 2985"/>
            </a:avLst>
          </a:prstGeom>
          <a:solidFill>
            <a:srgbClr val="FFFDF3"/>
          </a:solidFill>
          <a:ln w="38100">
            <a:solidFill>
              <a:srgbClr val="1E293B"/>
            </a:solidFill>
            <a:prstDash val="solid"/>
          </a:ln>
        </p:spPr>
      </p:sp>
      <p:sp>
        <p:nvSpPr>
          <p:cNvPr id="23" name="decisions table inner rule"/>
          <p:cNvSpPr/>
          <p:nvPr/>
        </p:nvSpPr>
        <p:spPr>
          <a:xfrm>
            <a:off x="5184648" y="1847088"/>
            <a:ext cx="6181344" cy="2935224"/>
          </a:xfrm>
          <a:prstGeom prst="roundRect">
            <a:avLst>
              <a:gd name="adj" fmla="val 2181"/>
            </a:avLst>
          </a:prstGeom>
          <a:ln w="12700">
            <a:solidFill>
              <a:srgbClr val="CBD5E1"/>
            </a:solidFill>
            <a:prstDash val="solid"/>
          </a:ln>
        </p:spPr>
      </p:sp>
      <p:sp>
        <p:nvSpPr>
          <p:cNvPr id="24" name="Text 18"/>
          <p:cNvSpPr txBox="1"/>
          <p:nvPr/>
        </p:nvSpPr>
        <p:spPr>
          <a:xfrm>
            <a:off x="5394960" y="1965960"/>
            <a:ext cx="365760" cy="4572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1</a:t>
            </a:r>
            <a:endParaRPr lang="en-US" sz="1500" dirty="0"/>
          </a:p>
        </p:txBody>
      </p:sp>
      <p:sp>
        <p:nvSpPr>
          <p:cNvPr id="25" name="Text 19"/>
          <p:cNvSpPr txBox="1"/>
          <p:nvPr/>
        </p:nvSpPr>
        <p:spPr>
          <a:xfrm>
            <a:off x="5760720" y="1965960"/>
            <a:ext cx="2286000" cy="45720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Sell 0.001 NVDAB</a:t>
            </a:r>
            <a:endParaRPr lang="en-US" sz="1450" dirty="0"/>
          </a:p>
        </p:txBody>
      </p:sp>
      <p:sp>
        <p:nvSpPr>
          <p:cNvPr id="26" name="Text 20"/>
          <p:cNvSpPr txBox="1"/>
          <p:nvPr/>
        </p:nvSpPr>
        <p:spPr>
          <a:xfrm>
            <a:off x="8092440" y="1965960"/>
            <a:ext cx="3246120" cy="457200"/>
          </a:xfrm>
          <a:prstGeom prst="rect">
            <a:avLst/>
          </a:prstGeom>
          <a:noFill/>
          <a:ln/>
        </p:spPr>
        <p:txBody>
          <a:bodyPr wrap="square" lIns="0" tIns="0" rIns="0" bIns="0" rtlCol="0" anchor="ctr"/>
          <a:lstStyle/>
          <a:p>
            <a:pPr indent="0" marL="0">
              <a:buNone/>
            </a:pPr>
            <a:r>
              <a:rPr lang="en-US" sz="1350" b="1" dirty="0">
                <a:solidFill>
                  <a:srgbClr val="B91C1C"/>
                </a:solidFill>
                <a:latin typeface="Calibri" pitchFamily="34" charset="0"/>
                <a:ea typeface="Calibri" pitchFamily="34" charset="-122"/>
                <a:cs typeface="Calibri" pitchFamily="34" charset="-120"/>
              </a:rPr>
              <a:t>Allowed, swapped, then cancelled by my script</a:t>
            </a:r>
            <a:endParaRPr lang="en-US" sz="1350" dirty="0"/>
          </a:p>
        </p:txBody>
      </p:sp>
      <p:sp>
        <p:nvSpPr>
          <p:cNvPr id="27" name="Shape 21"/>
          <p:cNvSpPr/>
          <p:nvPr/>
        </p:nvSpPr>
        <p:spPr>
          <a:xfrm>
            <a:off x="5349240" y="2468880"/>
            <a:ext cx="5852160" cy="0"/>
          </a:xfrm>
          <a:prstGeom prst="line">
            <a:avLst/>
          </a:prstGeom>
          <a:noFill/>
          <a:ln w="12700">
            <a:solidFill>
              <a:srgbClr val="CBD5E1"/>
            </a:solidFill>
            <a:prstDash val="solid"/>
          </a:ln>
        </p:spPr>
      </p:sp>
      <p:sp>
        <p:nvSpPr>
          <p:cNvPr id="28" name="Text 22"/>
          <p:cNvSpPr txBox="1"/>
          <p:nvPr/>
        </p:nvSpPr>
        <p:spPr>
          <a:xfrm>
            <a:off x="5394960" y="2514600"/>
            <a:ext cx="365760" cy="4572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2</a:t>
            </a:r>
            <a:endParaRPr lang="en-US" sz="1500" dirty="0"/>
          </a:p>
        </p:txBody>
      </p:sp>
      <p:sp>
        <p:nvSpPr>
          <p:cNvPr id="29" name="Text 23"/>
          <p:cNvSpPr txBox="1"/>
          <p:nvPr/>
        </p:nvSpPr>
        <p:spPr>
          <a:xfrm>
            <a:off x="5760720" y="2514600"/>
            <a:ext cx="2286000" cy="45720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Buy $0.20</a:t>
            </a:r>
            <a:endParaRPr lang="en-US" sz="1450" dirty="0"/>
          </a:p>
        </p:txBody>
      </p:sp>
      <p:sp>
        <p:nvSpPr>
          <p:cNvPr id="30" name="Text 24"/>
          <p:cNvSpPr txBox="1"/>
          <p:nvPr/>
        </p:nvSpPr>
        <p:spPr>
          <a:xfrm>
            <a:off x="8092440" y="2514600"/>
            <a:ext cx="3246120" cy="457200"/>
          </a:xfrm>
          <a:prstGeom prst="rect">
            <a:avLst/>
          </a:prstGeom>
          <a:noFill/>
          <a:ln/>
        </p:spPr>
        <p:txBody>
          <a:bodyPr wrap="square" lIns="0" tIns="0" rIns="0" bIns="0" rtlCol="0" anchor="ctr"/>
          <a:lstStyle/>
          <a:p>
            <a:pPr indent="0" marL="0">
              <a:buNone/>
            </a:pPr>
            <a:r>
              <a:rPr lang="en-US" sz="1350" b="1" dirty="0">
                <a:solidFill>
                  <a:srgbClr val="15803D"/>
                </a:solidFill>
                <a:latin typeface="Calibri" pitchFamily="34" charset="0"/>
                <a:ea typeface="Calibri" pitchFamily="34" charset="-122"/>
                <a:cs typeface="Calibri" pitchFamily="34" charset="-120"/>
              </a:rPr>
              <a:t>Allowed, swapped, settled</a:t>
            </a:r>
            <a:endParaRPr lang="en-US" sz="1350" dirty="0"/>
          </a:p>
        </p:txBody>
      </p:sp>
      <p:sp>
        <p:nvSpPr>
          <p:cNvPr id="31" name="Shape 25"/>
          <p:cNvSpPr/>
          <p:nvPr/>
        </p:nvSpPr>
        <p:spPr>
          <a:xfrm>
            <a:off x="5349240" y="3017520"/>
            <a:ext cx="5852160" cy="0"/>
          </a:xfrm>
          <a:prstGeom prst="line">
            <a:avLst/>
          </a:prstGeom>
          <a:noFill/>
          <a:ln w="12700">
            <a:solidFill>
              <a:srgbClr val="CBD5E1"/>
            </a:solidFill>
            <a:prstDash val="solid"/>
          </a:ln>
        </p:spPr>
      </p:sp>
      <p:sp>
        <p:nvSpPr>
          <p:cNvPr id="32" name="Text 26"/>
          <p:cNvSpPr txBox="1"/>
          <p:nvPr/>
        </p:nvSpPr>
        <p:spPr>
          <a:xfrm>
            <a:off x="5394960" y="3063240"/>
            <a:ext cx="365760" cy="4572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3</a:t>
            </a:r>
            <a:endParaRPr lang="en-US" sz="1500" dirty="0"/>
          </a:p>
        </p:txBody>
      </p:sp>
      <p:sp>
        <p:nvSpPr>
          <p:cNvPr id="33" name="Text 27"/>
          <p:cNvSpPr txBox="1"/>
          <p:nvPr/>
        </p:nvSpPr>
        <p:spPr>
          <a:xfrm>
            <a:off x="5760720" y="3063240"/>
            <a:ext cx="2286000" cy="45720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Buy $0.40</a:t>
            </a:r>
            <a:endParaRPr lang="en-US" sz="1450" dirty="0"/>
          </a:p>
        </p:txBody>
      </p:sp>
      <p:sp>
        <p:nvSpPr>
          <p:cNvPr id="34" name="Text 28"/>
          <p:cNvSpPr txBox="1"/>
          <p:nvPr/>
        </p:nvSpPr>
        <p:spPr>
          <a:xfrm>
            <a:off x="8092440" y="3063240"/>
            <a:ext cx="3246120" cy="457200"/>
          </a:xfrm>
          <a:prstGeom prst="rect">
            <a:avLst/>
          </a:prstGeom>
          <a:noFill/>
          <a:ln/>
        </p:spPr>
        <p:txBody>
          <a:bodyPr wrap="square" lIns="0" tIns="0" rIns="0" bIns="0" rtlCol="0" anchor="ctr"/>
          <a:lstStyle/>
          <a:p>
            <a:pPr indent="0" marL="0">
              <a:buNone/>
            </a:pPr>
            <a:r>
              <a:rPr lang="en-US" sz="1350" b="1" dirty="0">
                <a:solidFill>
                  <a:srgbClr val="B91C1C"/>
                </a:solidFill>
                <a:latin typeface="Calibri" pitchFamily="34" charset="0"/>
                <a:ea typeface="Calibri" pitchFamily="34" charset="-122"/>
                <a:cs typeface="Calibri" pitchFamily="34" charset="-120"/>
              </a:rPr>
              <a:t>Denied: NotionalExceeded</a:t>
            </a:r>
            <a:endParaRPr lang="en-US" sz="1350" dirty="0"/>
          </a:p>
        </p:txBody>
      </p:sp>
      <p:sp>
        <p:nvSpPr>
          <p:cNvPr id="35" name="Shape 29"/>
          <p:cNvSpPr/>
          <p:nvPr/>
        </p:nvSpPr>
        <p:spPr>
          <a:xfrm>
            <a:off x="5349240" y="3566160"/>
            <a:ext cx="5852160" cy="0"/>
          </a:xfrm>
          <a:prstGeom prst="line">
            <a:avLst/>
          </a:prstGeom>
          <a:noFill/>
          <a:ln w="12700">
            <a:solidFill>
              <a:srgbClr val="CBD5E1"/>
            </a:solidFill>
            <a:prstDash val="solid"/>
          </a:ln>
        </p:spPr>
      </p:sp>
      <p:sp>
        <p:nvSpPr>
          <p:cNvPr id="36" name="Text 30"/>
          <p:cNvSpPr txBox="1"/>
          <p:nvPr/>
        </p:nvSpPr>
        <p:spPr>
          <a:xfrm>
            <a:off x="5394960" y="3611880"/>
            <a:ext cx="365760" cy="4572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4</a:t>
            </a:r>
            <a:endParaRPr lang="en-US" sz="1500" dirty="0"/>
          </a:p>
        </p:txBody>
      </p:sp>
      <p:sp>
        <p:nvSpPr>
          <p:cNvPr id="37" name="Text 31"/>
          <p:cNvSpPr txBox="1"/>
          <p:nvPr/>
        </p:nvSpPr>
        <p:spPr>
          <a:xfrm>
            <a:off x="5760720" y="3611880"/>
            <a:ext cx="2286000" cy="45720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Buy $0.10, loose minimum</a:t>
            </a:r>
            <a:endParaRPr lang="en-US" sz="1450" dirty="0"/>
          </a:p>
        </p:txBody>
      </p:sp>
      <p:sp>
        <p:nvSpPr>
          <p:cNvPr id="38" name="Text 32"/>
          <p:cNvSpPr txBox="1"/>
          <p:nvPr/>
        </p:nvSpPr>
        <p:spPr>
          <a:xfrm>
            <a:off x="8092440" y="3611880"/>
            <a:ext cx="3246120" cy="457200"/>
          </a:xfrm>
          <a:prstGeom prst="rect">
            <a:avLst/>
          </a:prstGeom>
          <a:noFill/>
          <a:ln/>
        </p:spPr>
        <p:txBody>
          <a:bodyPr wrap="square" lIns="0" tIns="0" rIns="0" bIns="0" rtlCol="0" anchor="ctr"/>
          <a:lstStyle/>
          <a:p>
            <a:pPr indent="0" marL="0">
              <a:buNone/>
            </a:pPr>
            <a:r>
              <a:rPr lang="en-US" sz="1350" b="1" dirty="0">
                <a:solidFill>
                  <a:srgbClr val="B91C1C"/>
                </a:solidFill>
                <a:latin typeface="Calibri" pitchFamily="34" charset="0"/>
                <a:ea typeface="Calibri" pitchFamily="34" charset="-122"/>
                <a:cs typeface="Calibri" pitchFamily="34" charset="-120"/>
              </a:rPr>
              <a:t>Denied: SlippageTooLoose</a:t>
            </a:r>
            <a:endParaRPr lang="en-US" sz="1350" dirty="0"/>
          </a:p>
        </p:txBody>
      </p:sp>
      <p:sp>
        <p:nvSpPr>
          <p:cNvPr id="39" name="Shape 33"/>
          <p:cNvSpPr/>
          <p:nvPr/>
        </p:nvSpPr>
        <p:spPr>
          <a:xfrm>
            <a:off x="5349240" y="4114800"/>
            <a:ext cx="5852160" cy="0"/>
          </a:xfrm>
          <a:prstGeom prst="line">
            <a:avLst/>
          </a:prstGeom>
          <a:noFill/>
          <a:ln w="12700">
            <a:solidFill>
              <a:srgbClr val="CBD5E1"/>
            </a:solidFill>
            <a:prstDash val="solid"/>
          </a:ln>
        </p:spPr>
      </p:sp>
      <p:sp>
        <p:nvSpPr>
          <p:cNvPr id="40" name="Text 34"/>
          <p:cNvSpPr txBox="1"/>
          <p:nvPr/>
        </p:nvSpPr>
        <p:spPr>
          <a:xfrm>
            <a:off x="5394960" y="4160520"/>
            <a:ext cx="365760" cy="457200"/>
          </a:xfrm>
          <a:prstGeom prst="rect">
            <a:avLst/>
          </a:prstGeom>
          <a:noFill/>
          <a:ln/>
        </p:spPr>
        <p:txBody>
          <a:bodyPr wrap="square" lIns="0" tIns="0" rIns="0" bIns="0" rtlCol="0" anchor="ctr"/>
          <a:lstStyle/>
          <a:p>
            <a:pPr indent="0" marL="0">
              <a:buNone/>
            </a:pPr>
            <a:r>
              <a:rPr lang="en-US" sz="1500" b="1" dirty="0">
                <a:solidFill>
                  <a:srgbClr val="1E293B"/>
                </a:solidFill>
                <a:latin typeface="Calibri" pitchFamily="34" charset="0"/>
                <a:ea typeface="Calibri" pitchFamily="34" charset="-122"/>
                <a:cs typeface="Calibri" pitchFamily="34" charset="-120"/>
              </a:rPr>
              <a:t>5</a:t>
            </a:r>
            <a:endParaRPr lang="en-US" sz="1500" dirty="0"/>
          </a:p>
        </p:txBody>
      </p:sp>
      <p:sp>
        <p:nvSpPr>
          <p:cNvPr id="41" name="Text 35"/>
          <p:cNvSpPr txBox="1"/>
          <p:nvPr/>
        </p:nvSpPr>
        <p:spPr>
          <a:xfrm>
            <a:off x="5760720" y="4160520"/>
            <a:ext cx="2286000" cy="45720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Sell 0.001 NVDAB</a:t>
            </a:r>
            <a:endParaRPr lang="en-US" sz="1450" dirty="0"/>
          </a:p>
        </p:txBody>
      </p:sp>
      <p:sp>
        <p:nvSpPr>
          <p:cNvPr id="42" name="Text 36"/>
          <p:cNvSpPr txBox="1"/>
          <p:nvPr/>
        </p:nvSpPr>
        <p:spPr>
          <a:xfrm>
            <a:off x="8092440" y="4160520"/>
            <a:ext cx="3246120" cy="457200"/>
          </a:xfrm>
          <a:prstGeom prst="rect">
            <a:avLst/>
          </a:prstGeom>
          <a:noFill/>
          <a:ln/>
        </p:spPr>
        <p:txBody>
          <a:bodyPr wrap="square" lIns="0" tIns="0" rIns="0" bIns="0" rtlCol="0" anchor="ctr"/>
          <a:lstStyle/>
          <a:p>
            <a:pPr indent="0" marL="0">
              <a:buNone/>
            </a:pPr>
            <a:r>
              <a:rPr lang="en-US" sz="1350" b="1" dirty="0">
                <a:solidFill>
                  <a:srgbClr val="15803D"/>
                </a:solidFill>
                <a:latin typeface="Calibri" pitchFamily="34" charset="0"/>
                <a:ea typeface="Calibri" pitchFamily="34" charset="-122"/>
                <a:cs typeface="Calibri" pitchFamily="34" charset="-120"/>
              </a:rPr>
              <a:t>Allowed, swapped, settled</a:t>
            </a:r>
            <a:endParaRPr lang="en-US" sz="1350" dirty="0"/>
          </a:p>
        </p:txBody>
      </p:sp>
      <p:sp>
        <p:nvSpPr>
          <p:cNvPr id="43" name="address panel shadow"/>
          <p:cNvSpPr/>
          <p:nvPr/>
        </p:nvSpPr>
        <p:spPr>
          <a:xfrm>
            <a:off x="5120640" y="5102352"/>
            <a:ext cx="6309360" cy="1143000"/>
          </a:xfrm>
          <a:prstGeom prst="roundRect">
            <a:avLst>
              <a:gd name="adj" fmla="val 8000"/>
            </a:avLst>
          </a:prstGeom>
          <a:solidFill>
            <a:srgbClr val="1E293B"/>
          </a:solidFill>
          <a:ln w="12700">
            <a:solidFill>
              <a:srgbClr val="1E293B"/>
            </a:solidFill>
            <a:prstDash val="solid"/>
          </a:ln>
        </p:spPr>
      </p:sp>
      <p:sp>
        <p:nvSpPr>
          <p:cNvPr id="44" name="address panel"/>
          <p:cNvSpPr/>
          <p:nvPr/>
        </p:nvSpPr>
        <p:spPr>
          <a:xfrm>
            <a:off x="5120640" y="5029200"/>
            <a:ext cx="6309360" cy="1143000"/>
          </a:xfrm>
          <a:prstGeom prst="roundRect">
            <a:avLst>
              <a:gd name="adj" fmla="val 8000"/>
            </a:avLst>
          </a:prstGeom>
          <a:solidFill>
            <a:srgbClr val="FFFDF3"/>
          </a:solidFill>
          <a:ln w="38100">
            <a:solidFill>
              <a:srgbClr val="1E293B"/>
            </a:solidFill>
            <a:prstDash val="solid"/>
          </a:ln>
        </p:spPr>
      </p:sp>
      <p:sp>
        <p:nvSpPr>
          <p:cNvPr id="45" name="address panel inner rule"/>
          <p:cNvSpPr/>
          <p:nvPr/>
        </p:nvSpPr>
        <p:spPr>
          <a:xfrm>
            <a:off x="5184648" y="5093208"/>
            <a:ext cx="6181344" cy="1014984"/>
          </a:xfrm>
          <a:prstGeom prst="roundRect">
            <a:avLst>
              <a:gd name="adj" fmla="val 6306"/>
            </a:avLst>
          </a:prstGeom>
          <a:ln w="12700">
            <a:solidFill>
              <a:srgbClr val="CBD5E1"/>
            </a:solidFill>
            <a:prstDash val="solid"/>
          </a:ln>
        </p:spPr>
      </p:sp>
      <p:sp>
        <p:nvSpPr>
          <p:cNvPr id="46" name="Text 40"/>
          <p:cNvSpPr txBox="1"/>
          <p:nvPr/>
        </p:nvSpPr>
        <p:spPr>
          <a:xfrm>
            <a:off x="5349240" y="5166360"/>
            <a:ext cx="5852160" cy="914400"/>
          </a:xfrm>
          <a:prstGeom prst="rect">
            <a:avLst/>
          </a:prstGeom>
          <a:noFill/>
          <a:ln/>
        </p:spPr>
        <p:txBody>
          <a:bodyPr wrap="square" lIns="0" tIns="0" rIns="0" bIns="0" rtlCol="0" anchor="t"/>
          <a:lstStyle/>
          <a:p>
            <a:pPr indent="0" marL="0">
              <a:spcAft>
                <a:spcPts val="400"/>
              </a:spcAft>
              <a:buNone/>
            </a:pPr>
            <a:r>
              <a:rPr lang="en-US" sz="1350" b="1" dirty="0">
                <a:solidFill>
                  <a:srgbClr val="1E293B"/>
                </a:solidFill>
                <a:latin typeface="Courier New" pitchFamily="34" charset="0"/>
                <a:ea typeface="Courier New" pitchFamily="34" charset="-122"/>
                <a:cs typeface="Courier New" pitchFamily="34" charset="-120"/>
              </a:rPr>
              <a:t>0x90F642be72b5aD815B924AB3CFFd5f241Dc656aa</a:t>
            </a:r>
            <a:endParaRPr lang="en-US" sz="1350" dirty="0"/>
          </a:p>
          <a:p>
            <a:pPr indent="0" marL="0">
              <a:spcAft>
                <a:spcPts val="400"/>
              </a:spcAft>
              <a:buNone/>
            </a:pPr>
            <a:r>
              <a:rPr lang="en-US" sz="1250" dirty="0">
                <a:solidFill>
                  <a:srgbClr val="64748B"/>
                </a:solidFill>
                <a:latin typeface="Calibri" pitchFamily="34" charset="0"/>
                <a:ea typeface="Calibri" pitchFamily="34" charset="-122"/>
                <a:cs typeface="Calibri" pitchFamily="34" charset="-120"/>
              </a:rPr>
              <a:t>Verified on BscScan and Sourcify. The mandate is sized to a $2 budget: $0.25 per trade, 5 trades and $0.75 a day.</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banner shadow"/>
          <p:cNvSpPr/>
          <p:nvPr/>
        </p:nvSpPr>
        <p:spPr>
          <a:xfrm>
            <a:off x="822960" y="713232"/>
            <a:ext cx="585216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585216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5724144" cy="740664"/>
          </a:xfrm>
          <a:prstGeom prst="roundRect">
            <a:avLst>
              <a:gd name="adj" fmla="val 8642"/>
            </a:avLst>
          </a:prstGeom>
          <a:ln w="12700">
            <a:solidFill>
              <a:srgbClr val="CBD5E1"/>
            </a:solidFill>
            <a:prstDash val="solid"/>
          </a:ln>
        </p:spPr>
      </p:sp>
      <p:pic>
        <p:nvPicPr>
          <p:cNvPr id="5" name="Image 0" descr="My own mistake">    </p:cNvPr>
          <p:cNvPicPr>
            <a:picLocks noChangeAspect="1"/>
          </p:cNvPicPr>
          <p:nvPr/>
        </p:nvPicPr>
        <p:blipFill>
          <a:blip r:embed="rId1"/>
          <a:stretch>
            <a:fillRect/>
          </a:stretch>
        </p:blipFill>
        <p:spPr>
          <a:xfrm>
            <a:off x="1188720" y="891540"/>
            <a:ext cx="5120640" cy="365760"/>
          </a:xfrm>
          <a:prstGeom prst="rect">
            <a:avLst/>
          </a:prstGeom>
        </p:spPr>
      </p:pic>
      <p:sp>
        <p:nvSpPr>
          <p:cNvPr id="6" name="terminal shadow"/>
          <p:cNvSpPr/>
          <p:nvPr/>
        </p:nvSpPr>
        <p:spPr>
          <a:xfrm>
            <a:off x="822960" y="1856232"/>
            <a:ext cx="6035040" cy="4251960"/>
          </a:xfrm>
          <a:prstGeom prst="roundRect">
            <a:avLst>
              <a:gd name="adj" fmla="val 2151"/>
            </a:avLst>
          </a:prstGeom>
          <a:solidFill>
            <a:srgbClr val="1E293B"/>
          </a:solidFill>
          <a:ln w="12700">
            <a:solidFill>
              <a:srgbClr val="1E293B"/>
            </a:solidFill>
            <a:prstDash val="solid"/>
          </a:ln>
        </p:spPr>
      </p:sp>
      <p:sp>
        <p:nvSpPr>
          <p:cNvPr id="7" name="terminal"/>
          <p:cNvSpPr/>
          <p:nvPr/>
        </p:nvSpPr>
        <p:spPr>
          <a:xfrm>
            <a:off x="822960" y="1783080"/>
            <a:ext cx="6035040" cy="4251960"/>
          </a:xfrm>
          <a:prstGeom prst="roundRect">
            <a:avLst>
              <a:gd name="adj" fmla="val 2151"/>
            </a:avLst>
          </a:prstGeom>
          <a:solidFill>
            <a:srgbClr val="0F172A"/>
          </a:solidFill>
          <a:ln w="38100">
            <a:solidFill>
              <a:srgbClr val="1E293B"/>
            </a:solidFill>
            <a:prstDash val="solid"/>
          </a:ln>
        </p:spPr>
      </p:sp>
      <p:sp>
        <p:nvSpPr>
          <p:cNvPr id="8" name="terminal inner rule"/>
          <p:cNvSpPr/>
          <p:nvPr/>
        </p:nvSpPr>
        <p:spPr>
          <a:xfrm>
            <a:off x="886968" y="1847088"/>
            <a:ext cx="5907024" cy="4123944"/>
          </a:xfrm>
          <a:prstGeom prst="roundRect">
            <a:avLst>
              <a:gd name="adj" fmla="val 1552"/>
            </a:avLst>
          </a:prstGeom>
          <a:ln w="12700">
            <a:solidFill>
              <a:srgbClr val="475569"/>
            </a:solidFill>
            <a:prstDash val="solid"/>
          </a:ln>
        </p:spPr>
      </p:sp>
      <p:sp>
        <p:nvSpPr>
          <p:cNvPr id="9" name="Text 6"/>
          <p:cNvSpPr txBox="1"/>
          <p:nvPr/>
        </p:nvSpPr>
        <p:spPr>
          <a:xfrm>
            <a:off x="1188720" y="2103120"/>
            <a:ext cx="5394960" cy="3657600"/>
          </a:xfrm>
          <a:prstGeom prst="rect">
            <a:avLst/>
          </a:prstGeom>
          <a:noFill/>
          <a:ln/>
        </p:spPr>
        <p:txBody>
          <a:bodyPr wrap="square" lIns="0" tIns="0" rIns="0" bIns="0" rtlCol="0" anchor="t"/>
          <a:lstStyle/>
          <a:p>
            <a:pPr indent="0" marL="0">
              <a:spcAft>
                <a:spcPts val="300"/>
              </a:spcAft>
              <a:buNone/>
            </a:pPr>
            <a:r>
              <a:rPr lang="en-US" sz="1450" dirty="0">
                <a:solidFill>
                  <a:srgbClr val="38BDF8"/>
                </a:solidFill>
                <a:latin typeface="Courier New" pitchFamily="34" charset="0"/>
                <a:ea typeface="Courier New" pitchFamily="34" charset="-122"/>
                <a:cs typeface="Courier New" pitchFamily="34" charset="-120"/>
              </a:rPr>
              <a:t>$ npm run verify</a:t>
            </a:r>
            <a:endParaRPr lang="en-US" sz="1450" dirty="0"/>
          </a:p>
          <a:p>
            <a:pPr indent="0" marL="0">
              <a:spcAft>
                <a:spcPts val="300"/>
              </a:spcAft>
              <a:buNone/>
            </a:pPr>
            <a:r>
              <a:rPr lang="en-US" sz="1450" dirty="0">
                <a:solidFill>
                  <a:srgbClr val="E2E8F0"/>
                </a:solidFill>
                <a:latin typeface="Courier New" pitchFamily="34" charset="0"/>
                <a:ea typeface="Courier New" pitchFamily="34" charset="-122"/>
                <a:cs typeface="Courier New" pitchFamily="34" charset="-120"/>
              </a:rPr>
              <a:t>decisions: 5</a:t>
            </a:r>
            <a:endParaRPr lang="en-US" sz="1450" dirty="0"/>
          </a:p>
          <a:p>
            <a:pPr indent="0" marL="0">
              <a:spcAft>
                <a:spcPts val="300"/>
              </a:spcAft>
              <a:buNone/>
            </a:pPr>
            <a:r>
              <a:rPr lang="en-US" sz="1450" dirty="0">
                <a:solidFill>
                  <a:srgbClr val="E2E8F0"/>
                </a:solidFill>
                <a:latin typeface="Courier New" pitchFamily="34" charset="0"/>
                <a:ea typeface="Courier New" pitchFamily="34" charset="-122"/>
                <a:cs typeface="Courier New" pitchFamily="34" charset="-120"/>
              </a:rPr>
              <a:t>trades:    3 (2 matched to a settled decision)</a:t>
            </a:r>
            <a:endParaRPr lang="en-US" sz="1450" dirty="0"/>
          </a:p>
          <a:p>
            <a:pPr indent="0" marL="0">
              <a:spcAft>
                <a:spcPts val="300"/>
              </a:spcAft>
              <a:buNone/>
            </a:pPr>
            <a:r>
              <a:rPr lang="en-US" sz="1450" dirty="0">
                <a:solidFill>
                  <a:srgbClr val="1E293B"/>
                </a:solidFill>
                <a:latin typeface="Courier New" pitchFamily="34" charset="0"/>
                <a:ea typeface="Courier New" pitchFamily="34" charset="-122"/>
                <a:cs typeface="Courier New" pitchFamily="34" charset="-120"/>
              </a:rPr>
              <a:t> </a:t>
            </a:r>
            <a:endParaRPr lang="en-US" sz="1450" dirty="0"/>
          </a:p>
          <a:p>
            <a:pPr indent="0" marL="0">
              <a:spcAft>
                <a:spcPts val="300"/>
              </a:spcAft>
              <a:buNone/>
            </a:pPr>
            <a:r>
              <a:rPr lang="en-US" sz="1450" dirty="0">
                <a:solidFill>
                  <a:srgbClr val="4ADE80"/>
                </a:solidFill>
                <a:latin typeface="Courier New" pitchFamily="34" charset="0"/>
                <a:ea typeface="Courier New" pitchFamily="34" charset="-122"/>
                <a:cs typeface="Courier New" pitchFamily="34" charset="-120"/>
              </a:rPr>
              <a:t>[OK]  0x43d624bc…be38  buy  decision #2</a:t>
            </a:r>
            <a:endParaRPr lang="en-US" sz="1450" dirty="0"/>
          </a:p>
          <a:p>
            <a:pPr indent="0" marL="0">
              <a:spcAft>
                <a:spcPts val="300"/>
              </a:spcAft>
              <a:buNone/>
            </a:pPr>
            <a:r>
              <a:rPr lang="en-US" sz="1450" dirty="0">
                <a:solidFill>
                  <a:srgbClr val="4ADE80"/>
                </a:solidFill>
                <a:latin typeface="Courier New" pitchFamily="34" charset="0"/>
                <a:ea typeface="Courier New" pitchFamily="34" charset="-122"/>
                <a:cs typeface="Courier New" pitchFamily="34" charset="-120"/>
              </a:rPr>
              <a:t>[OK]  0x166d33a1…5bed  sell decision #5</a:t>
            </a:r>
            <a:endParaRPr lang="en-US" sz="1450" dirty="0"/>
          </a:p>
          <a:p>
            <a:pPr indent="0" marL="0">
              <a:spcAft>
                <a:spcPts val="300"/>
              </a:spcAft>
              <a:buNone/>
            </a:pPr>
            <a:r>
              <a:rPr lang="en-US" sz="1450" b="1" dirty="0">
                <a:solidFill>
                  <a:srgbClr val="F87171"/>
                </a:solidFill>
                <a:latin typeface="Courier New" pitchFamily="34" charset="0"/>
                <a:ea typeface="Courier New" pitchFamily="34" charset="-122"/>
                <a:cs typeface="Courier New" pitchFamily="34" charset="-120"/>
              </a:rPr>
              <a:t>[UNMATCHED_TRADE] 0x1df46d49…e1be</a:t>
            </a:r>
            <a:endParaRPr lang="en-US" sz="1450" dirty="0"/>
          </a:p>
          <a:p>
            <a:pPr indent="0" marL="0">
              <a:spcAft>
                <a:spcPts val="300"/>
              </a:spcAft>
              <a:buNone/>
            </a:pPr>
            <a:r>
              <a:rPr lang="en-US" sz="1450" dirty="0">
                <a:solidFill>
                  <a:srgbClr val="F87171"/>
                </a:solidFill>
                <a:latin typeface="Courier New" pitchFamily="34" charset="0"/>
                <a:ea typeface="Courier New" pitchFamily="34" charset="-122"/>
                <a:cs typeface="Courier New" pitchFamily="34" charset="-120"/>
              </a:rPr>
              <a:t>  sent 0.000999 NVDAB with no settled</a:t>
            </a:r>
            <a:endParaRPr lang="en-US" sz="1450" dirty="0"/>
          </a:p>
          <a:p>
            <a:pPr indent="0" marL="0">
              <a:spcAft>
                <a:spcPts val="300"/>
              </a:spcAft>
              <a:buNone/>
            </a:pPr>
            <a:r>
              <a:rPr lang="en-US" sz="1450" dirty="0">
                <a:solidFill>
                  <a:srgbClr val="F87171"/>
                </a:solidFill>
                <a:latin typeface="Courier New" pitchFamily="34" charset="0"/>
                <a:ea typeface="Courier New" pitchFamily="34" charset="-122"/>
                <a:cs typeface="Courier New" pitchFamily="34" charset="-120"/>
              </a:rPr>
              <a:t>  decision</a:t>
            </a:r>
            <a:endParaRPr lang="en-US" sz="1450" dirty="0"/>
          </a:p>
          <a:p>
            <a:pPr indent="0" marL="0">
              <a:spcAft>
                <a:spcPts val="300"/>
              </a:spcAft>
              <a:buNone/>
            </a:pPr>
            <a:r>
              <a:rPr lang="en-US" sz="1450" dirty="0">
                <a:solidFill>
                  <a:srgbClr val="1E293B"/>
                </a:solidFill>
                <a:latin typeface="Courier New" pitchFamily="34" charset="0"/>
                <a:ea typeface="Courier New" pitchFamily="34" charset="-122"/>
                <a:cs typeface="Courier New" pitchFamily="34" charset="-120"/>
              </a:rPr>
              <a:t> </a:t>
            </a:r>
            <a:endParaRPr lang="en-US" sz="1450" dirty="0"/>
          </a:p>
          <a:p>
            <a:pPr indent="0" marL="0">
              <a:spcAft>
                <a:spcPts val="300"/>
              </a:spcAft>
              <a:buNone/>
            </a:pPr>
            <a:r>
              <a:rPr lang="en-US" sz="1450" dirty="0">
                <a:solidFill>
                  <a:srgbClr val="FDE047"/>
                </a:solidFill>
                <a:latin typeface="Courier New" pitchFamily="34" charset="0"/>
                <a:ea typeface="Courier New" pitchFamily="34" charset="-122"/>
                <a:cs typeface="Courier New" pitchFamily="34" charset="-120"/>
              </a:rPr>
              <a:t>1 violation(s).</a:t>
            </a:r>
            <a:endParaRPr lang="en-US" sz="1450" dirty="0"/>
          </a:p>
        </p:txBody>
      </p:sp>
      <p:sp>
        <p:nvSpPr>
          <p:cNvPr id="10" name="step 1 shadow"/>
          <p:cNvSpPr/>
          <p:nvPr/>
        </p:nvSpPr>
        <p:spPr>
          <a:xfrm>
            <a:off x="7132320" y="1856232"/>
            <a:ext cx="4297680" cy="914400"/>
          </a:xfrm>
          <a:prstGeom prst="roundRect">
            <a:avLst>
              <a:gd name="adj" fmla="val 10000"/>
            </a:avLst>
          </a:prstGeom>
          <a:solidFill>
            <a:srgbClr val="1E293B"/>
          </a:solidFill>
          <a:ln w="12700">
            <a:solidFill>
              <a:srgbClr val="1E293B"/>
            </a:solidFill>
            <a:prstDash val="solid"/>
          </a:ln>
        </p:spPr>
      </p:sp>
      <p:sp>
        <p:nvSpPr>
          <p:cNvPr id="11" name="step 1"/>
          <p:cNvSpPr/>
          <p:nvPr/>
        </p:nvSpPr>
        <p:spPr>
          <a:xfrm>
            <a:off x="7132320" y="1783080"/>
            <a:ext cx="4297680" cy="914400"/>
          </a:xfrm>
          <a:prstGeom prst="roundRect">
            <a:avLst>
              <a:gd name="adj" fmla="val 10000"/>
            </a:avLst>
          </a:prstGeom>
          <a:solidFill>
            <a:srgbClr val="FFFDF3"/>
          </a:solidFill>
          <a:ln w="38100">
            <a:solidFill>
              <a:srgbClr val="1E293B"/>
            </a:solidFill>
            <a:prstDash val="solid"/>
          </a:ln>
        </p:spPr>
      </p:sp>
      <p:sp>
        <p:nvSpPr>
          <p:cNvPr id="12" name="step 1 inner rule"/>
          <p:cNvSpPr/>
          <p:nvPr/>
        </p:nvSpPr>
        <p:spPr>
          <a:xfrm>
            <a:off x="7196328" y="1847088"/>
            <a:ext cx="4169664" cy="786384"/>
          </a:xfrm>
          <a:prstGeom prst="roundRect">
            <a:avLst>
              <a:gd name="adj" fmla="val 8140"/>
            </a:avLst>
          </a:prstGeom>
          <a:ln w="12700">
            <a:solidFill>
              <a:srgbClr val="CBD5E1"/>
            </a:solidFill>
            <a:prstDash val="solid"/>
          </a:ln>
        </p:spPr>
      </p:sp>
      <p:pic>
        <p:nvPicPr>
          <p:cNvPr id="13" name="Image 1" descr="step 1">    </p:cNvPr>
          <p:cNvPicPr>
            <a:picLocks noChangeAspect="1"/>
          </p:cNvPicPr>
          <p:nvPr/>
        </p:nvPicPr>
        <p:blipFill>
          <a:blip r:embed="rId2"/>
          <a:stretch>
            <a:fillRect/>
          </a:stretch>
        </p:blipFill>
        <p:spPr>
          <a:xfrm>
            <a:off x="7360920" y="2057400"/>
            <a:ext cx="365760" cy="365760"/>
          </a:xfrm>
          <a:prstGeom prst="rect">
            <a:avLst/>
          </a:prstGeom>
        </p:spPr>
      </p:pic>
      <p:sp>
        <p:nvSpPr>
          <p:cNvPr id="14" name="Text 10"/>
          <p:cNvSpPr txBox="1"/>
          <p:nvPr/>
        </p:nvSpPr>
        <p:spPr>
          <a:xfrm>
            <a:off x="7818120" y="1856232"/>
            <a:ext cx="3474720" cy="7772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My first script looked up a swap by the orderId Binance returned. The order list never found that id.</a:t>
            </a:r>
            <a:endParaRPr lang="en-US" sz="1250" dirty="0"/>
          </a:p>
        </p:txBody>
      </p:sp>
      <p:sp>
        <p:nvSpPr>
          <p:cNvPr id="15" name="step 2 shadow"/>
          <p:cNvSpPr/>
          <p:nvPr/>
        </p:nvSpPr>
        <p:spPr>
          <a:xfrm>
            <a:off x="7132320" y="2880360"/>
            <a:ext cx="4297680" cy="914400"/>
          </a:xfrm>
          <a:prstGeom prst="roundRect">
            <a:avLst>
              <a:gd name="adj" fmla="val 10000"/>
            </a:avLst>
          </a:prstGeom>
          <a:solidFill>
            <a:srgbClr val="1E293B"/>
          </a:solidFill>
          <a:ln w="12700">
            <a:solidFill>
              <a:srgbClr val="1E293B"/>
            </a:solidFill>
            <a:prstDash val="solid"/>
          </a:ln>
        </p:spPr>
      </p:sp>
      <p:sp>
        <p:nvSpPr>
          <p:cNvPr id="16" name="step 2"/>
          <p:cNvSpPr/>
          <p:nvPr/>
        </p:nvSpPr>
        <p:spPr>
          <a:xfrm>
            <a:off x="7132320" y="2807208"/>
            <a:ext cx="4297680" cy="914400"/>
          </a:xfrm>
          <a:prstGeom prst="roundRect">
            <a:avLst>
              <a:gd name="adj" fmla="val 10000"/>
            </a:avLst>
          </a:prstGeom>
          <a:solidFill>
            <a:srgbClr val="FFFDF3"/>
          </a:solidFill>
          <a:ln w="38100">
            <a:solidFill>
              <a:srgbClr val="1E293B"/>
            </a:solidFill>
            <a:prstDash val="solid"/>
          </a:ln>
        </p:spPr>
      </p:sp>
      <p:sp>
        <p:nvSpPr>
          <p:cNvPr id="17" name="step 2 inner rule"/>
          <p:cNvSpPr/>
          <p:nvPr/>
        </p:nvSpPr>
        <p:spPr>
          <a:xfrm>
            <a:off x="7196328" y="2871216"/>
            <a:ext cx="4169664" cy="786384"/>
          </a:xfrm>
          <a:prstGeom prst="roundRect">
            <a:avLst>
              <a:gd name="adj" fmla="val 8140"/>
            </a:avLst>
          </a:prstGeom>
          <a:ln w="12700">
            <a:solidFill>
              <a:srgbClr val="CBD5E1"/>
            </a:solidFill>
            <a:prstDash val="solid"/>
          </a:ln>
        </p:spPr>
      </p:sp>
      <p:pic>
        <p:nvPicPr>
          <p:cNvPr id="18" name="Image 2" descr="step 2">    </p:cNvPr>
          <p:cNvPicPr>
            <a:picLocks noChangeAspect="1"/>
          </p:cNvPicPr>
          <p:nvPr/>
        </p:nvPicPr>
        <p:blipFill>
          <a:blip r:embed="rId3"/>
          <a:stretch>
            <a:fillRect/>
          </a:stretch>
        </p:blipFill>
        <p:spPr>
          <a:xfrm>
            <a:off x="7360920" y="3081528"/>
            <a:ext cx="365760" cy="365760"/>
          </a:xfrm>
          <a:prstGeom prst="rect">
            <a:avLst/>
          </a:prstGeom>
        </p:spPr>
      </p:pic>
      <p:sp>
        <p:nvSpPr>
          <p:cNvPr id="19" name="Text 14"/>
          <p:cNvSpPr txBox="1"/>
          <p:nvPr/>
        </p:nvSpPr>
        <p:spPr>
          <a:xfrm>
            <a:off x="7818120" y="2880360"/>
            <a:ext cx="3474720" cy="7772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It assumed the swap hadn't happened and cancelled the decision. The swap had filled.</a:t>
            </a:r>
            <a:endParaRPr lang="en-US" sz="1250" dirty="0"/>
          </a:p>
        </p:txBody>
      </p:sp>
      <p:sp>
        <p:nvSpPr>
          <p:cNvPr id="20" name="step 3 shadow"/>
          <p:cNvSpPr/>
          <p:nvPr/>
        </p:nvSpPr>
        <p:spPr>
          <a:xfrm>
            <a:off x="7132320" y="3904488"/>
            <a:ext cx="4297680" cy="914400"/>
          </a:xfrm>
          <a:prstGeom prst="roundRect">
            <a:avLst>
              <a:gd name="adj" fmla="val 10000"/>
            </a:avLst>
          </a:prstGeom>
          <a:solidFill>
            <a:srgbClr val="1E293B"/>
          </a:solidFill>
          <a:ln w="12700">
            <a:solidFill>
              <a:srgbClr val="1E293B"/>
            </a:solidFill>
            <a:prstDash val="solid"/>
          </a:ln>
        </p:spPr>
      </p:sp>
      <p:sp>
        <p:nvSpPr>
          <p:cNvPr id="21" name="step 3"/>
          <p:cNvSpPr/>
          <p:nvPr/>
        </p:nvSpPr>
        <p:spPr>
          <a:xfrm>
            <a:off x="7132320" y="3831336"/>
            <a:ext cx="4297680" cy="914400"/>
          </a:xfrm>
          <a:prstGeom prst="roundRect">
            <a:avLst>
              <a:gd name="adj" fmla="val 10000"/>
            </a:avLst>
          </a:prstGeom>
          <a:solidFill>
            <a:srgbClr val="FFFDF3"/>
          </a:solidFill>
          <a:ln w="38100">
            <a:solidFill>
              <a:srgbClr val="1E293B"/>
            </a:solidFill>
            <a:prstDash val="solid"/>
          </a:ln>
        </p:spPr>
      </p:sp>
      <p:sp>
        <p:nvSpPr>
          <p:cNvPr id="22" name="step 3 inner rule"/>
          <p:cNvSpPr/>
          <p:nvPr/>
        </p:nvSpPr>
        <p:spPr>
          <a:xfrm>
            <a:off x="7196328" y="3895344"/>
            <a:ext cx="4169664" cy="786384"/>
          </a:xfrm>
          <a:prstGeom prst="roundRect">
            <a:avLst>
              <a:gd name="adj" fmla="val 8140"/>
            </a:avLst>
          </a:prstGeom>
          <a:ln w="12700">
            <a:solidFill>
              <a:srgbClr val="CBD5E1"/>
            </a:solidFill>
            <a:prstDash val="solid"/>
          </a:ln>
        </p:spPr>
      </p:sp>
      <p:pic>
        <p:nvPicPr>
          <p:cNvPr id="23" name="Image 3" descr="step 3">    </p:cNvPr>
          <p:cNvPicPr>
            <a:picLocks noChangeAspect="1"/>
          </p:cNvPicPr>
          <p:nvPr/>
        </p:nvPicPr>
        <p:blipFill>
          <a:blip r:embed="rId4"/>
          <a:stretch>
            <a:fillRect/>
          </a:stretch>
        </p:blipFill>
        <p:spPr>
          <a:xfrm>
            <a:off x="7360920" y="4105656"/>
            <a:ext cx="365760" cy="365760"/>
          </a:xfrm>
          <a:prstGeom prst="rect">
            <a:avLst/>
          </a:prstGeom>
        </p:spPr>
      </p:pic>
      <p:sp>
        <p:nvSpPr>
          <p:cNvPr id="24" name="Text 18"/>
          <p:cNvSpPr txBox="1"/>
          <p:nvPr/>
        </p:nvSpPr>
        <p:spPr>
          <a:xfrm>
            <a:off x="7818120" y="3904488"/>
            <a:ext cx="3474720" cy="777240"/>
          </a:xfrm>
          <a:prstGeom prst="rect">
            <a:avLst/>
          </a:prstGeom>
          <a:noFill/>
          <a:ln/>
        </p:spPr>
        <p:txBody>
          <a:bodyPr wrap="square" lIns="0" tIns="0" rIns="0" bIns="0" rtlCol="0" anchor="ctr"/>
          <a:lstStyle/>
          <a:p>
            <a:pPr indent="0" marL="0">
              <a:buNone/>
            </a:pPr>
            <a:r>
              <a:rPr lang="en-US" sz="1250" dirty="0">
                <a:solidFill>
                  <a:srgbClr val="1E293B"/>
                </a:solidFill>
                <a:latin typeface="Calibri" pitchFamily="34" charset="0"/>
                <a:ea typeface="Calibri" pitchFamily="34" charset="-122"/>
                <a:cs typeface="Calibri" pitchFamily="34" charset="-120"/>
              </a:rPr>
              <a:t>A cancelled decision can't be settled, so that trade is flagged for good.</a:t>
            </a:r>
            <a:endParaRPr lang="en-US" sz="1250" dirty="0"/>
          </a:p>
        </p:txBody>
      </p:sp>
      <p:sp>
        <p:nvSpPr>
          <p:cNvPr id="25" name="takeaway shadow"/>
          <p:cNvSpPr/>
          <p:nvPr/>
        </p:nvSpPr>
        <p:spPr>
          <a:xfrm>
            <a:off x="7132320" y="5010912"/>
            <a:ext cx="4297680" cy="1097280"/>
          </a:xfrm>
          <a:prstGeom prst="roundRect">
            <a:avLst>
              <a:gd name="adj" fmla="val 8333"/>
            </a:avLst>
          </a:prstGeom>
          <a:solidFill>
            <a:srgbClr val="1E293B"/>
          </a:solidFill>
          <a:ln w="12700">
            <a:solidFill>
              <a:srgbClr val="1E293B"/>
            </a:solidFill>
            <a:prstDash val="solid"/>
          </a:ln>
        </p:spPr>
      </p:sp>
      <p:sp>
        <p:nvSpPr>
          <p:cNvPr id="26" name="takeaway"/>
          <p:cNvSpPr/>
          <p:nvPr/>
        </p:nvSpPr>
        <p:spPr>
          <a:xfrm>
            <a:off x="7132320" y="4937760"/>
            <a:ext cx="4297680" cy="1097280"/>
          </a:xfrm>
          <a:prstGeom prst="roundRect">
            <a:avLst>
              <a:gd name="adj" fmla="val 8333"/>
            </a:avLst>
          </a:prstGeom>
          <a:solidFill>
            <a:srgbClr val="FDE047"/>
          </a:solidFill>
          <a:ln w="38100">
            <a:solidFill>
              <a:srgbClr val="1E293B"/>
            </a:solidFill>
            <a:prstDash val="solid"/>
          </a:ln>
        </p:spPr>
      </p:sp>
      <p:sp>
        <p:nvSpPr>
          <p:cNvPr id="27" name="takeaway inner rule"/>
          <p:cNvSpPr/>
          <p:nvPr/>
        </p:nvSpPr>
        <p:spPr>
          <a:xfrm>
            <a:off x="7196328" y="5001768"/>
            <a:ext cx="4169664" cy="969264"/>
          </a:xfrm>
          <a:prstGeom prst="roundRect">
            <a:avLst>
              <a:gd name="adj" fmla="val 6604"/>
            </a:avLst>
          </a:prstGeom>
          <a:ln w="12700">
            <a:solidFill>
              <a:srgbClr val="475569"/>
            </a:solidFill>
            <a:prstDash val="solid"/>
          </a:ln>
        </p:spPr>
      </p:sp>
      <p:sp>
        <p:nvSpPr>
          <p:cNvPr id="28" name="Text 22"/>
          <p:cNvSpPr txBox="1"/>
          <p:nvPr/>
        </p:nvSpPr>
        <p:spPr>
          <a:xfrm>
            <a:off x="7315200" y="5029200"/>
            <a:ext cx="3931920" cy="914400"/>
          </a:xfrm>
          <a:prstGeom prst="rect">
            <a:avLst/>
          </a:prstGeom>
          <a:noFill/>
          <a:ln/>
        </p:spPr>
        <p:txBody>
          <a:bodyPr wrap="square" lIns="0" tIns="0" rIns="0" bIns="0" rtlCol="0" anchor="ctr"/>
          <a:lstStyle/>
          <a:p>
            <a:pPr algn="ctr" indent="0" marL="0">
              <a:buNone/>
            </a:pPr>
            <a:r>
              <a:rPr lang="en-US" sz="1450" b="1" dirty="0">
                <a:solidFill>
                  <a:srgbClr val="1E293B"/>
                </a:solidFill>
                <a:latin typeface="Calibri" pitchFamily="34" charset="0"/>
                <a:ea typeface="Calibri" pitchFamily="34" charset="-122"/>
                <a:cs typeface="Calibri" pitchFamily="34" charset="-120"/>
              </a:rPr>
              <a:t>That is the system doing its job: a trade with no approved decision shows up for anyone.</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banner shadow"/>
          <p:cNvSpPr/>
          <p:nvPr/>
        </p:nvSpPr>
        <p:spPr>
          <a:xfrm>
            <a:off x="822960" y="713232"/>
            <a:ext cx="9509760" cy="868680"/>
          </a:xfrm>
          <a:prstGeom prst="roundRect">
            <a:avLst>
              <a:gd name="adj" fmla="val 10526"/>
            </a:avLst>
          </a:prstGeom>
          <a:solidFill>
            <a:srgbClr val="1E293B"/>
          </a:solidFill>
          <a:ln w="12700">
            <a:solidFill>
              <a:srgbClr val="1E293B"/>
            </a:solidFill>
            <a:prstDash val="solid"/>
          </a:ln>
        </p:spPr>
      </p:sp>
      <p:sp>
        <p:nvSpPr>
          <p:cNvPr id="3" name="title banner"/>
          <p:cNvSpPr/>
          <p:nvPr/>
        </p:nvSpPr>
        <p:spPr>
          <a:xfrm>
            <a:off x="822960" y="640080"/>
            <a:ext cx="9509760" cy="868680"/>
          </a:xfrm>
          <a:prstGeom prst="roundRect">
            <a:avLst>
              <a:gd name="adj" fmla="val 10526"/>
            </a:avLst>
          </a:prstGeom>
          <a:solidFill>
            <a:srgbClr val="FFFDF3"/>
          </a:solidFill>
          <a:ln w="38100">
            <a:solidFill>
              <a:srgbClr val="1E293B"/>
            </a:solidFill>
            <a:prstDash val="solid"/>
          </a:ln>
        </p:spPr>
      </p:sp>
      <p:sp>
        <p:nvSpPr>
          <p:cNvPr id="4" name="title banner inner rule"/>
          <p:cNvSpPr/>
          <p:nvPr/>
        </p:nvSpPr>
        <p:spPr>
          <a:xfrm>
            <a:off x="886968" y="704088"/>
            <a:ext cx="9381744" cy="740664"/>
          </a:xfrm>
          <a:prstGeom prst="roundRect">
            <a:avLst>
              <a:gd name="adj" fmla="val 8642"/>
            </a:avLst>
          </a:prstGeom>
          <a:ln w="12700">
            <a:solidFill>
              <a:srgbClr val="CBD5E1"/>
            </a:solidFill>
            <a:prstDash val="solid"/>
          </a:ln>
        </p:spPr>
      </p:sp>
      <p:pic>
        <p:nvPicPr>
          <p:cNvPr id="5" name="Image 0" descr="What the stack taught me">    </p:cNvPr>
          <p:cNvPicPr>
            <a:picLocks noChangeAspect="1"/>
          </p:cNvPicPr>
          <p:nvPr/>
        </p:nvPicPr>
        <p:blipFill>
          <a:blip r:embed="rId1"/>
          <a:stretch>
            <a:fillRect/>
          </a:stretch>
        </p:blipFill>
        <p:spPr>
          <a:xfrm>
            <a:off x="1188720" y="891540"/>
            <a:ext cx="8778240" cy="365760"/>
          </a:xfrm>
          <a:prstGeom prst="rect">
            <a:avLst/>
          </a:prstGeom>
        </p:spPr>
      </p:pic>
      <p:sp>
        <p:nvSpPr>
          <p:cNvPr id="6" name="finding 1 shadow"/>
          <p:cNvSpPr/>
          <p:nvPr/>
        </p:nvSpPr>
        <p:spPr>
          <a:xfrm>
            <a:off x="822960" y="1856232"/>
            <a:ext cx="3383280" cy="3154680"/>
          </a:xfrm>
          <a:prstGeom prst="roundRect">
            <a:avLst>
              <a:gd name="adj" fmla="val 2899"/>
            </a:avLst>
          </a:prstGeom>
          <a:solidFill>
            <a:srgbClr val="1E293B"/>
          </a:solidFill>
          <a:ln w="12700">
            <a:solidFill>
              <a:srgbClr val="1E293B"/>
            </a:solidFill>
            <a:prstDash val="solid"/>
          </a:ln>
        </p:spPr>
      </p:sp>
      <p:sp>
        <p:nvSpPr>
          <p:cNvPr id="7" name="finding 1"/>
          <p:cNvSpPr/>
          <p:nvPr/>
        </p:nvSpPr>
        <p:spPr>
          <a:xfrm>
            <a:off x="822960" y="1783080"/>
            <a:ext cx="3383280" cy="3154680"/>
          </a:xfrm>
          <a:prstGeom prst="roundRect">
            <a:avLst>
              <a:gd name="adj" fmla="val 2899"/>
            </a:avLst>
          </a:prstGeom>
          <a:solidFill>
            <a:srgbClr val="FFFDF3"/>
          </a:solidFill>
          <a:ln w="38100">
            <a:solidFill>
              <a:srgbClr val="1E293B"/>
            </a:solidFill>
            <a:prstDash val="solid"/>
          </a:ln>
        </p:spPr>
      </p:sp>
      <p:sp>
        <p:nvSpPr>
          <p:cNvPr id="8" name="finding 1 inner rule"/>
          <p:cNvSpPr/>
          <p:nvPr/>
        </p:nvSpPr>
        <p:spPr>
          <a:xfrm>
            <a:off x="886968" y="1847088"/>
            <a:ext cx="3255264" cy="3026664"/>
          </a:xfrm>
          <a:prstGeom prst="roundRect">
            <a:avLst>
              <a:gd name="adj" fmla="val 2115"/>
            </a:avLst>
          </a:prstGeom>
          <a:ln w="12700">
            <a:solidFill>
              <a:srgbClr val="CBD5E1"/>
            </a:solidFill>
            <a:prstDash val="solid"/>
          </a:ln>
        </p:spPr>
      </p:sp>
      <p:pic>
        <p:nvPicPr>
          <p:cNvPr id="9" name="Image 1" descr="pixel monster">    </p:cNvPr>
          <p:cNvPicPr>
            <a:picLocks noChangeAspect="1"/>
          </p:cNvPicPr>
          <p:nvPr/>
        </p:nvPicPr>
        <p:blipFill>
          <a:blip r:embed="rId2"/>
          <a:stretch>
            <a:fillRect/>
          </a:stretch>
        </p:blipFill>
        <p:spPr>
          <a:xfrm>
            <a:off x="2103120" y="1965960"/>
            <a:ext cx="822960" cy="822960"/>
          </a:xfrm>
          <a:prstGeom prst="rect">
            <a:avLst/>
          </a:prstGeom>
        </p:spPr>
      </p:pic>
      <p:sp>
        <p:nvSpPr>
          <p:cNvPr id="10" name="Text 6"/>
          <p:cNvSpPr txBox="1"/>
          <p:nvPr/>
        </p:nvSpPr>
        <p:spPr>
          <a:xfrm>
            <a:off x="1097280" y="2926080"/>
            <a:ext cx="2834640" cy="73152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swap's orderId is not list's orderId</a:t>
            </a:r>
            <a:endParaRPr lang="en-US" sz="1700" dirty="0"/>
          </a:p>
        </p:txBody>
      </p:sp>
      <p:sp>
        <p:nvSpPr>
          <p:cNvPr id="11" name="Text 7"/>
          <p:cNvSpPr txBox="1"/>
          <p:nvPr/>
        </p:nvSpPr>
        <p:spPr>
          <a:xfrm>
            <a:off x="1097280" y="3703320"/>
            <a:ext cx="2834640" cy="109728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Off by +222, +1 and −18 on three swaps. The list never found the id the swap returned.</a:t>
            </a:r>
            <a:endParaRPr lang="en-US" sz="1350" dirty="0"/>
          </a:p>
        </p:txBody>
      </p:sp>
      <p:sp>
        <p:nvSpPr>
          <p:cNvPr id="12" name="finding 2 shadow"/>
          <p:cNvSpPr/>
          <p:nvPr/>
        </p:nvSpPr>
        <p:spPr>
          <a:xfrm>
            <a:off x="4434840" y="1856232"/>
            <a:ext cx="3383280" cy="3154680"/>
          </a:xfrm>
          <a:prstGeom prst="roundRect">
            <a:avLst>
              <a:gd name="adj" fmla="val 2899"/>
            </a:avLst>
          </a:prstGeom>
          <a:solidFill>
            <a:srgbClr val="1E293B"/>
          </a:solidFill>
          <a:ln w="12700">
            <a:solidFill>
              <a:srgbClr val="1E293B"/>
            </a:solidFill>
            <a:prstDash val="solid"/>
          </a:ln>
        </p:spPr>
      </p:sp>
      <p:sp>
        <p:nvSpPr>
          <p:cNvPr id="13" name="finding 2"/>
          <p:cNvSpPr/>
          <p:nvPr/>
        </p:nvSpPr>
        <p:spPr>
          <a:xfrm>
            <a:off x="4434840" y="1783080"/>
            <a:ext cx="3383280" cy="3154680"/>
          </a:xfrm>
          <a:prstGeom prst="roundRect">
            <a:avLst>
              <a:gd name="adj" fmla="val 2899"/>
            </a:avLst>
          </a:prstGeom>
          <a:solidFill>
            <a:srgbClr val="FFFDF3"/>
          </a:solidFill>
          <a:ln w="38100">
            <a:solidFill>
              <a:srgbClr val="1E293B"/>
            </a:solidFill>
            <a:prstDash val="solid"/>
          </a:ln>
        </p:spPr>
      </p:sp>
      <p:sp>
        <p:nvSpPr>
          <p:cNvPr id="14" name="finding 2 inner rule"/>
          <p:cNvSpPr/>
          <p:nvPr/>
        </p:nvSpPr>
        <p:spPr>
          <a:xfrm>
            <a:off x="4498848" y="1847088"/>
            <a:ext cx="3255264" cy="3026664"/>
          </a:xfrm>
          <a:prstGeom prst="roundRect">
            <a:avLst>
              <a:gd name="adj" fmla="val 2115"/>
            </a:avLst>
          </a:prstGeom>
          <a:ln w="12700">
            <a:solidFill>
              <a:srgbClr val="CBD5E1"/>
            </a:solidFill>
            <a:prstDash val="solid"/>
          </a:ln>
        </p:spPr>
      </p:sp>
      <p:pic>
        <p:nvPicPr>
          <p:cNvPr id="15" name="Image 2" descr="pixel monster">    </p:cNvPr>
          <p:cNvPicPr>
            <a:picLocks noChangeAspect="1"/>
          </p:cNvPicPr>
          <p:nvPr/>
        </p:nvPicPr>
        <p:blipFill>
          <a:blip r:embed="rId3"/>
          <a:stretch>
            <a:fillRect/>
          </a:stretch>
        </p:blipFill>
        <p:spPr>
          <a:xfrm>
            <a:off x="5715000" y="1965960"/>
            <a:ext cx="822960" cy="822960"/>
          </a:xfrm>
          <a:prstGeom prst="rect">
            <a:avLst/>
          </a:prstGeom>
        </p:spPr>
      </p:pic>
      <p:sp>
        <p:nvSpPr>
          <p:cNvPr id="16" name="Text 11"/>
          <p:cNvSpPr txBox="1"/>
          <p:nvPr/>
        </p:nvSpPr>
        <p:spPr>
          <a:xfrm>
            <a:off x="4709160" y="2926080"/>
            <a:ext cx="2834640" cy="73152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No reference price for any bStock</a:t>
            </a:r>
            <a:endParaRPr lang="en-US" sz="1700" dirty="0"/>
          </a:p>
        </p:txBody>
      </p:sp>
      <p:sp>
        <p:nvSpPr>
          <p:cNvPr id="17" name="Text 12"/>
          <p:cNvSpPr txBox="1"/>
          <p:nvPr/>
        </p:nvSpPr>
        <p:spPr>
          <a:xfrm>
            <a:off x="4709160" y="3703320"/>
            <a:ext cx="2834640" cy="109728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It is null for all 46 bStocks. Ondo returns one. I used the hourly candle's last close instead.</a:t>
            </a:r>
            <a:endParaRPr lang="en-US" sz="1350" dirty="0"/>
          </a:p>
        </p:txBody>
      </p:sp>
      <p:sp>
        <p:nvSpPr>
          <p:cNvPr id="18" name="finding 3 shadow"/>
          <p:cNvSpPr/>
          <p:nvPr/>
        </p:nvSpPr>
        <p:spPr>
          <a:xfrm>
            <a:off x="8046720" y="1856232"/>
            <a:ext cx="3383280" cy="3154680"/>
          </a:xfrm>
          <a:prstGeom prst="roundRect">
            <a:avLst>
              <a:gd name="adj" fmla="val 2899"/>
            </a:avLst>
          </a:prstGeom>
          <a:solidFill>
            <a:srgbClr val="1E293B"/>
          </a:solidFill>
          <a:ln w="12700">
            <a:solidFill>
              <a:srgbClr val="1E293B"/>
            </a:solidFill>
            <a:prstDash val="solid"/>
          </a:ln>
        </p:spPr>
      </p:sp>
      <p:sp>
        <p:nvSpPr>
          <p:cNvPr id="19" name="finding 3"/>
          <p:cNvSpPr/>
          <p:nvPr/>
        </p:nvSpPr>
        <p:spPr>
          <a:xfrm>
            <a:off x="8046720" y="1783080"/>
            <a:ext cx="3383280" cy="3154680"/>
          </a:xfrm>
          <a:prstGeom prst="roundRect">
            <a:avLst>
              <a:gd name="adj" fmla="val 2899"/>
            </a:avLst>
          </a:prstGeom>
          <a:solidFill>
            <a:srgbClr val="FFFDF3"/>
          </a:solidFill>
          <a:ln w="38100">
            <a:solidFill>
              <a:srgbClr val="1E293B"/>
            </a:solidFill>
            <a:prstDash val="solid"/>
          </a:ln>
        </p:spPr>
      </p:sp>
      <p:sp>
        <p:nvSpPr>
          <p:cNvPr id="20" name="finding 3 inner rule"/>
          <p:cNvSpPr/>
          <p:nvPr/>
        </p:nvSpPr>
        <p:spPr>
          <a:xfrm>
            <a:off x="8110728" y="1847088"/>
            <a:ext cx="3255264" cy="3026664"/>
          </a:xfrm>
          <a:prstGeom prst="roundRect">
            <a:avLst>
              <a:gd name="adj" fmla="val 2115"/>
            </a:avLst>
          </a:prstGeom>
          <a:ln w="12700">
            <a:solidFill>
              <a:srgbClr val="CBD5E1"/>
            </a:solidFill>
            <a:prstDash val="solid"/>
          </a:ln>
        </p:spPr>
      </p:sp>
      <p:pic>
        <p:nvPicPr>
          <p:cNvPr id="21" name="Image 3" descr="pixel monster">    </p:cNvPr>
          <p:cNvPicPr>
            <a:picLocks noChangeAspect="1"/>
          </p:cNvPicPr>
          <p:nvPr/>
        </p:nvPicPr>
        <p:blipFill>
          <a:blip r:embed="rId4"/>
          <a:stretch>
            <a:fillRect/>
          </a:stretch>
        </p:blipFill>
        <p:spPr>
          <a:xfrm>
            <a:off x="9326880" y="1965960"/>
            <a:ext cx="822960" cy="822960"/>
          </a:xfrm>
          <a:prstGeom prst="rect">
            <a:avLst/>
          </a:prstGeom>
        </p:spPr>
      </p:pic>
      <p:sp>
        <p:nvSpPr>
          <p:cNvPr id="22" name="Text 16"/>
          <p:cNvSpPr txBox="1"/>
          <p:nvPr/>
        </p:nvSpPr>
        <p:spPr>
          <a:xfrm>
            <a:off x="8321040" y="2926080"/>
            <a:ext cx="2834640" cy="731520"/>
          </a:xfrm>
          <a:prstGeom prst="rect">
            <a:avLst/>
          </a:prstGeom>
          <a:noFill/>
          <a:ln/>
        </p:spPr>
        <p:txBody>
          <a:bodyPr wrap="square" lIns="0" tIns="0" rIns="0" bIns="0" rtlCol="0" anchor="ctr"/>
          <a:lstStyle/>
          <a:p>
            <a:pPr algn="ctr" indent="0" marL="0">
              <a:buNone/>
            </a:pPr>
            <a:r>
              <a:rPr lang="en-US" sz="1700" b="1" dirty="0">
                <a:solidFill>
                  <a:srgbClr val="1E293B"/>
                </a:solidFill>
                <a:latin typeface="Calibri" pitchFamily="34" charset="0"/>
                <a:ea typeface="Calibri" pitchFamily="34" charset="-122"/>
                <a:cs typeface="Calibri" pitchFamily="34" charset="-120"/>
              </a:rPr>
              <a:t>TRADING while the NYSE is shut</a:t>
            </a:r>
            <a:endParaRPr lang="en-US" sz="1700" dirty="0"/>
          </a:p>
        </p:txBody>
      </p:sp>
      <p:sp>
        <p:nvSpPr>
          <p:cNvPr id="23" name="Text 17"/>
          <p:cNvSpPr txBox="1"/>
          <p:nvPr/>
        </p:nvSpPr>
        <p:spPr>
          <a:xfrm>
            <a:off x="8321040" y="3703320"/>
            <a:ext cx="2834640" cy="1097280"/>
          </a:xfrm>
          <a:prstGeom prst="rect">
            <a:avLst/>
          </a:prstGeom>
          <a:noFill/>
          <a:ln/>
        </p:spPr>
        <p:txBody>
          <a:bodyPr wrap="square" lIns="0" tIns="0" rIns="0" bIns="0" rtlCol="0" anchor="t"/>
          <a:lstStyle/>
          <a:p>
            <a:pPr algn="ctr" indent="0" marL="0">
              <a:buNone/>
            </a:pPr>
            <a:r>
              <a:rPr lang="en-US" sz="1350" dirty="0">
                <a:solidFill>
                  <a:srgbClr val="64748B"/>
                </a:solidFill>
                <a:latin typeface="Calibri" pitchFamily="34" charset="0"/>
                <a:ea typeface="Calibri" pitchFamily="34" charset="-122"/>
                <a:cs typeface="Calibri" pitchFamily="34" charset="-120"/>
              </a:rPr>
              <a:t>The status endpoint has no session field for bStocks, so the oracle carries its own NYSE calendar.</a:t>
            </a:r>
            <a:endParaRPr lang="en-US" sz="1350" dirty="0"/>
          </a:p>
        </p:txBody>
      </p:sp>
      <p:sp>
        <p:nvSpPr>
          <p:cNvPr id="24" name="footer note shadow"/>
          <p:cNvSpPr/>
          <p:nvPr/>
        </p:nvSpPr>
        <p:spPr>
          <a:xfrm>
            <a:off x="822960" y="5239512"/>
            <a:ext cx="10607040" cy="1005840"/>
          </a:xfrm>
          <a:prstGeom prst="roundRect">
            <a:avLst>
              <a:gd name="adj" fmla="val 9091"/>
            </a:avLst>
          </a:prstGeom>
          <a:solidFill>
            <a:srgbClr val="1E293B"/>
          </a:solidFill>
          <a:ln w="12700">
            <a:solidFill>
              <a:srgbClr val="1E293B"/>
            </a:solidFill>
            <a:prstDash val="solid"/>
          </a:ln>
        </p:spPr>
      </p:sp>
      <p:sp>
        <p:nvSpPr>
          <p:cNvPr id="25" name="footer note"/>
          <p:cNvSpPr/>
          <p:nvPr/>
        </p:nvSpPr>
        <p:spPr>
          <a:xfrm>
            <a:off x="822960" y="5166360"/>
            <a:ext cx="10607040" cy="1005840"/>
          </a:xfrm>
          <a:prstGeom prst="roundRect">
            <a:avLst>
              <a:gd name="adj" fmla="val 9091"/>
            </a:avLst>
          </a:prstGeom>
          <a:solidFill>
            <a:srgbClr val="FFFDF3"/>
          </a:solidFill>
          <a:ln w="38100">
            <a:solidFill>
              <a:srgbClr val="1E293B"/>
            </a:solidFill>
            <a:prstDash val="solid"/>
          </a:ln>
        </p:spPr>
      </p:sp>
      <p:sp>
        <p:nvSpPr>
          <p:cNvPr id="26" name="footer note inner rule"/>
          <p:cNvSpPr/>
          <p:nvPr/>
        </p:nvSpPr>
        <p:spPr>
          <a:xfrm>
            <a:off x="886968" y="5230368"/>
            <a:ext cx="10479024" cy="877824"/>
          </a:xfrm>
          <a:prstGeom prst="roundRect">
            <a:avLst>
              <a:gd name="adj" fmla="val 7292"/>
            </a:avLst>
          </a:prstGeom>
          <a:ln w="12700">
            <a:solidFill>
              <a:srgbClr val="CBD5E1"/>
            </a:solidFill>
            <a:prstDash val="solid"/>
          </a:ln>
        </p:spPr>
      </p:sp>
      <p:sp>
        <p:nvSpPr>
          <p:cNvPr id="27" name="Text 21"/>
          <p:cNvSpPr txBox="1"/>
          <p:nvPr/>
        </p:nvSpPr>
        <p:spPr>
          <a:xfrm>
            <a:off x="1051560" y="5230368"/>
            <a:ext cx="10149840" cy="868680"/>
          </a:xfrm>
          <a:prstGeom prst="rect">
            <a:avLst/>
          </a:prstGeom>
          <a:noFill/>
          <a:ln/>
        </p:spPr>
        <p:txBody>
          <a:bodyPr wrap="square" lIns="0" tIns="0" rIns="0" bIns="0" rtlCol="0" anchor="ctr"/>
          <a:lstStyle/>
          <a:p>
            <a:pPr indent="0" marL="0">
              <a:buNone/>
            </a:pPr>
            <a:r>
              <a:rPr lang="en-US" sz="1450" dirty="0">
                <a:solidFill>
                  <a:srgbClr val="1E293B"/>
                </a:solidFill>
                <a:latin typeface="Calibri" pitchFamily="34" charset="0"/>
                <a:ea typeface="Calibri" pitchFamily="34" charset="-122"/>
                <a:cs typeface="Calibri" pitchFamily="34" charset="-120"/>
              </a:rPr>
              <a:t>Real gas per swap cycle was three to four times my estimate, so a $2 budget bought five decisions. Everything else is in the friction log and the developer experience report. 277 tests, and the live ones found real bugs.</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No trade happens unseen">    </p:cNvPr>
          <p:cNvPicPr>
            <a:picLocks noChangeAspect="1"/>
          </p:cNvPicPr>
          <p:nvPr/>
        </p:nvPicPr>
        <p:blipFill>
          <a:blip r:embed="rId1"/>
          <a:stretch>
            <a:fillRect/>
          </a:stretch>
        </p:blipFill>
        <p:spPr>
          <a:xfrm>
            <a:off x="868680" y="1097280"/>
            <a:ext cx="10319004" cy="502006"/>
          </a:xfrm>
          <a:prstGeom prst="rect">
            <a:avLst/>
          </a:prstGeom>
        </p:spPr>
      </p:pic>
      <p:sp>
        <p:nvSpPr>
          <p:cNvPr id="3" name="links panel shadow"/>
          <p:cNvSpPr/>
          <p:nvPr/>
        </p:nvSpPr>
        <p:spPr>
          <a:xfrm>
            <a:off x="2743200" y="2404872"/>
            <a:ext cx="6675120" cy="2377440"/>
          </a:xfrm>
          <a:prstGeom prst="roundRect">
            <a:avLst>
              <a:gd name="adj" fmla="val 3846"/>
            </a:avLst>
          </a:prstGeom>
          <a:solidFill>
            <a:srgbClr val="1E293B"/>
          </a:solidFill>
          <a:ln w="12700">
            <a:solidFill>
              <a:srgbClr val="1E293B"/>
            </a:solidFill>
            <a:prstDash val="solid"/>
          </a:ln>
        </p:spPr>
      </p:sp>
      <p:sp>
        <p:nvSpPr>
          <p:cNvPr id="4" name="links panel"/>
          <p:cNvSpPr/>
          <p:nvPr/>
        </p:nvSpPr>
        <p:spPr>
          <a:xfrm>
            <a:off x="2743200" y="2331720"/>
            <a:ext cx="6675120" cy="2377440"/>
          </a:xfrm>
          <a:prstGeom prst="roundRect">
            <a:avLst>
              <a:gd name="adj" fmla="val 3846"/>
            </a:avLst>
          </a:prstGeom>
          <a:solidFill>
            <a:srgbClr val="FFFDF3"/>
          </a:solidFill>
          <a:ln w="38100">
            <a:solidFill>
              <a:srgbClr val="1E293B"/>
            </a:solidFill>
            <a:prstDash val="solid"/>
          </a:ln>
        </p:spPr>
      </p:sp>
      <p:sp>
        <p:nvSpPr>
          <p:cNvPr id="5" name="links panel inner rule"/>
          <p:cNvSpPr/>
          <p:nvPr/>
        </p:nvSpPr>
        <p:spPr>
          <a:xfrm>
            <a:off x="2807208" y="2395728"/>
            <a:ext cx="6547104" cy="2249424"/>
          </a:xfrm>
          <a:prstGeom prst="roundRect">
            <a:avLst>
              <a:gd name="adj" fmla="val 2846"/>
            </a:avLst>
          </a:prstGeom>
          <a:ln w="12700">
            <a:solidFill>
              <a:srgbClr val="CBD5E1"/>
            </a:solidFill>
            <a:prstDash val="solid"/>
          </a:ln>
        </p:spPr>
      </p:sp>
      <p:sp>
        <p:nvSpPr>
          <p:cNvPr id="6" name="Text 3"/>
          <p:cNvSpPr txBox="1"/>
          <p:nvPr/>
        </p:nvSpPr>
        <p:spPr>
          <a:xfrm>
            <a:off x="3017520" y="2514600"/>
            <a:ext cx="6126480" cy="548640"/>
          </a:xfrm>
          <a:prstGeom prst="rect">
            <a:avLst/>
          </a:prstGeom>
          <a:noFill/>
          <a:ln/>
        </p:spPr>
        <p:txBody>
          <a:bodyPr wrap="square" lIns="0" tIns="0" rIns="0" bIns="0" rtlCol="0" anchor="t"/>
          <a:lstStyle/>
          <a:p>
            <a:pPr algn="ctr" indent="0" marL="0">
              <a:buNone/>
            </a:pPr>
            <a:r>
              <a:rPr lang="en-US" sz="1650" b="1" dirty="0">
                <a:solidFill>
                  <a:srgbClr val="1E293B"/>
                </a:solidFill>
                <a:latin typeface="Calibri" pitchFamily="34" charset="0"/>
                <a:ea typeface="Calibri" pitchFamily="34" charset="-122"/>
                <a:cs typeface="Calibri" pitchFamily="34" charset="-120"/>
              </a:rPr>
              <a:t>Five decisions on a $2 budget, and every kind of outcome is in them.</a:t>
            </a:r>
            <a:endParaRPr lang="en-US" sz="1650" dirty="0"/>
          </a:p>
        </p:txBody>
      </p:sp>
      <p:sp>
        <p:nvSpPr>
          <p:cNvPr id="7" name="Text 4"/>
          <p:cNvSpPr txBox="1"/>
          <p:nvPr/>
        </p:nvSpPr>
        <p:spPr>
          <a:xfrm>
            <a:off x="3108960" y="3246120"/>
            <a:ext cx="137160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Live app</a:t>
            </a:r>
            <a:endParaRPr lang="en-US" sz="1500" dirty="0"/>
          </a:p>
        </p:txBody>
      </p:sp>
      <p:sp>
        <p:nvSpPr>
          <p:cNvPr id="8" name="Text 5"/>
          <p:cNvSpPr txBox="1"/>
          <p:nvPr/>
        </p:nvSpPr>
        <p:spPr>
          <a:xfrm>
            <a:off x="4480560" y="3246120"/>
            <a:ext cx="4754880" cy="3657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covenant-eight-self.vercel.app</a:t>
            </a:r>
            <a:endParaRPr lang="en-US" sz="1600" dirty="0"/>
          </a:p>
        </p:txBody>
      </p:sp>
      <p:sp>
        <p:nvSpPr>
          <p:cNvPr id="9" name="Text 6"/>
          <p:cNvSpPr txBox="1"/>
          <p:nvPr/>
        </p:nvSpPr>
        <p:spPr>
          <a:xfrm>
            <a:off x="3108960" y="3703320"/>
            <a:ext cx="137160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Repo</a:t>
            </a:r>
            <a:endParaRPr lang="en-US" sz="1500" dirty="0"/>
          </a:p>
        </p:txBody>
      </p:sp>
      <p:sp>
        <p:nvSpPr>
          <p:cNvPr id="10" name="Text 7"/>
          <p:cNvSpPr txBox="1"/>
          <p:nvPr/>
        </p:nvSpPr>
        <p:spPr>
          <a:xfrm>
            <a:off x="4480560" y="3703320"/>
            <a:ext cx="4754880" cy="3657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github.com/altf4-games/Covenant</a:t>
            </a:r>
            <a:endParaRPr lang="en-US" sz="1600" dirty="0"/>
          </a:p>
        </p:txBody>
      </p:sp>
      <p:sp>
        <p:nvSpPr>
          <p:cNvPr id="11" name="Text 8"/>
          <p:cNvSpPr txBox="1"/>
          <p:nvPr/>
        </p:nvSpPr>
        <p:spPr>
          <a:xfrm>
            <a:off x="3108960" y="4160520"/>
            <a:ext cx="1371600" cy="365760"/>
          </a:xfrm>
          <a:prstGeom prst="rect">
            <a:avLst/>
          </a:prstGeom>
          <a:noFill/>
          <a:ln/>
        </p:spPr>
        <p:txBody>
          <a:bodyPr wrap="square" lIns="0" tIns="0" rIns="0" bIns="0" rtlCol="0" anchor="t"/>
          <a:lstStyle/>
          <a:p>
            <a:pPr indent="0" marL="0">
              <a:buNone/>
            </a:pPr>
            <a:r>
              <a:rPr lang="en-US" sz="1500" dirty="0">
                <a:solidFill>
                  <a:srgbClr val="64748B"/>
                </a:solidFill>
                <a:latin typeface="Calibri" pitchFamily="34" charset="0"/>
                <a:ea typeface="Calibri" pitchFamily="34" charset="-122"/>
                <a:cs typeface="Calibri" pitchFamily="34" charset="-120"/>
              </a:rPr>
              <a:t>Contract</a:t>
            </a:r>
            <a:endParaRPr lang="en-US" sz="1500" dirty="0"/>
          </a:p>
        </p:txBody>
      </p:sp>
      <p:sp>
        <p:nvSpPr>
          <p:cNvPr id="12" name="Text 9"/>
          <p:cNvSpPr txBox="1"/>
          <p:nvPr/>
        </p:nvSpPr>
        <p:spPr>
          <a:xfrm>
            <a:off x="4480560" y="4160520"/>
            <a:ext cx="4754880" cy="365760"/>
          </a:xfrm>
          <a:prstGeom prst="rect">
            <a:avLst/>
          </a:prstGeom>
          <a:noFill/>
          <a:ln/>
        </p:spPr>
        <p:txBody>
          <a:bodyPr wrap="square" lIns="0" tIns="0" rIns="0" bIns="0" rtlCol="0" anchor="t"/>
          <a:lstStyle/>
          <a:p>
            <a:pPr indent="0" marL="0">
              <a:buNone/>
            </a:pPr>
            <a:r>
              <a:rPr lang="en-US" sz="1600" b="1" dirty="0">
                <a:solidFill>
                  <a:srgbClr val="1E293B"/>
                </a:solidFill>
                <a:latin typeface="Calibri" pitchFamily="34" charset="0"/>
                <a:ea typeface="Calibri" pitchFamily="34" charset="-122"/>
                <a:cs typeface="Calibri" pitchFamily="34" charset="-120"/>
              </a:rPr>
              <a:t>bscscan.com/address/0x90F642be…c656aa</a:t>
            </a:r>
            <a:endParaRPr lang="en-US" sz="1600" dirty="0"/>
          </a:p>
        </p:txBody>
      </p:sp>
      <p:sp>
        <p:nvSpPr>
          <p:cNvPr id="13" name="platform"/>
          <p:cNvSpPr/>
          <p:nvPr/>
        </p:nvSpPr>
        <p:spPr>
          <a:xfrm>
            <a:off x="822960" y="4983480"/>
            <a:ext cx="1920240" cy="537667"/>
          </a:xfrm>
          <a:prstGeom prst="ellipse">
            <a:avLst/>
          </a:prstGeom>
          <a:solidFill>
            <a:srgbClr val="5FA05A"/>
          </a:solidFill>
          <a:ln w="19050">
            <a:solidFill>
              <a:srgbClr val="3F7D3A"/>
            </a:solidFill>
            <a:prstDash val="solid"/>
          </a:ln>
        </p:spPr>
      </p:sp>
      <p:sp>
        <p:nvSpPr>
          <p:cNvPr id="14" name="platform"/>
          <p:cNvSpPr/>
          <p:nvPr/>
        </p:nvSpPr>
        <p:spPr>
          <a:xfrm>
            <a:off x="9418320" y="4983480"/>
            <a:ext cx="1920240" cy="537667"/>
          </a:xfrm>
          <a:prstGeom prst="ellipse">
            <a:avLst/>
          </a:prstGeom>
          <a:solidFill>
            <a:srgbClr val="5FA05A"/>
          </a:solidFill>
          <a:ln w="19050">
            <a:solidFill>
              <a:srgbClr val="3F7D3A"/>
            </a:solidFill>
            <a:prstDash val="solid"/>
          </a:ln>
        </p:spPr>
      </p:sp>
      <p:pic>
        <p:nvPicPr>
          <p:cNvPr id="15" name="Image 1" descr="The agent">    </p:cNvPr>
          <p:cNvPicPr>
            <a:picLocks noChangeAspect="1"/>
          </p:cNvPicPr>
          <p:nvPr/>
        </p:nvPicPr>
        <p:blipFill>
          <a:blip r:embed="rId2"/>
          <a:stretch>
            <a:fillRect/>
          </a:stretch>
        </p:blipFill>
        <p:spPr>
          <a:xfrm>
            <a:off x="1005840" y="3566160"/>
            <a:ext cx="1554480" cy="1554480"/>
          </a:xfrm>
          <a:prstGeom prst="rect">
            <a:avLst/>
          </a:prstGeom>
        </p:spPr>
      </p:pic>
      <p:pic>
        <p:nvPicPr>
          <p:cNvPr id="16" name="Image 2" descr="The Rule Checker">    </p:cNvPr>
          <p:cNvPicPr>
            <a:picLocks noChangeAspect="1"/>
          </p:cNvPicPr>
          <p:nvPr/>
        </p:nvPicPr>
        <p:blipFill>
          <a:blip r:embed="rId3"/>
          <a:stretch>
            <a:fillRect/>
          </a:stretch>
        </p:blipFill>
        <p:spPr>
          <a:xfrm>
            <a:off x="9601200" y="3566160"/>
            <a:ext cx="1554480" cy="1554480"/>
          </a:xfrm>
          <a:prstGeom prst="rect">
            <a:avLst/>
          </a:prstGeom>
        </p:spPr>
      </p:pic>
      <p:pic>
        <p:nvPicPr>
          <p:cNvPr id="17" name="Image 3" descr="The end">    </p:cNvPr>
          <p:cNvPicPr>
            <a:picLocks noChangeAspect="1"/>
          </p:cNvPicPr>
          <p:nvPr/>
        </p:nvPicPr>
        <p:blipFill>
          <a:blip r:embed="rId4"/>
          <a:stretch>
            <a:fillRect/>
          </a:stretch>
        </p:blipFill>
        <p:spPr>
          <a:xfrm>
            <a:off x="4297680" y="4983480"/>
            <a:ext cx="3648456" cy="576072"/>
          </a:xfrm>
          <a:prstGeom prst="rect">
            <a:avLst/>
          </a:prstGeom>
        </p:spPr>
      </p:pic>
      <p:sp>
        <p:nvSpPr>
          <p:cNvPr id="18" name="footer pill shadow"/>
          <p:cNvSpPr/>
          <p:nvPr/>
        </p:nvSpPr>
        <p:spPr>
          <a:xfrm>
            <a:off x="3657600" y="5833872"/>
            <a:ext cx="4846320" cy="502920"/>
          </a:xfrm>
          <a:prstGeom prst="roundRect">
            <a:avLst>
              <a:gd name="adj" fmla="val 18182"/>
            </a:avLst>
          </a:prstGeom>
          <a:solidFill>
            <a:srgbClr val="1E293B"/>
          </a:solidFill>
          <a:ln w="12700">
            <a:solidFill>
              <a:srgbClr val="1E293B"/>
            </a:solidFill>
            <a:prstDash val="solid"/>
          </a:ln>
        </p:spPr>
      </p:sp>
      <p:sp>
        <p:nvSpPr>
          <p:cNvPr id="19" name="footer pill"/>
          <p:cNvSpPr/>
          <p:nvPr/>
        </p:nvSpPr>
        <p:spPr>
          <a:xfrm>
            <a:off x="3657600" y="5760720"/>
            <a:ext cx="4846320" cy="502920"/>
          </a:xfrm>
          <a:prstGeom prst="roundRect">
            <a:avLst>
              <a:gd name="adj" fmla="val 18182"/>
            </a:avLst>
          </a:prstGeom>
          <a:solidFill>
            <a:srgbClr val="FFFDF3"/>
          </a:solidFill>
          <a:ln w="38100">
            <a:solidFill>
              <a:srgbClr val="1E293B"/>
            </a:solidFill>
            <a:prstDash val="solid"/>
          </a:ln>
        </p:spPr>
      </p:sp>
      <p:sp>
        <p:nvSpPr>
          <p:cNvPr id="20" name="footer pill inner rule"/>
          <p:cNvSpPr/>
          <p:nvPr/>
        </p:nvSpPr>
        <p:spPr>
          <a:xfrm>
            <a:off x="3721608" y="5824728"/>
            <a:ext cx="4718304" cy="374904"/>
          </a:xfrm>
          <a:prstGeom prst="roundRect">
            <a:avLst>
              <a:gd name="adj" fmla="val 17073"/>
            </a:avLst>
          </a:prstGeom>
          <a:ln w="12700">
            <a:solidFill>
              <a:srgbClr val="CBD5E1"/>
            </a:solidFill>
            <a:prstDash val="solid"/>
          </a:ln>
        </p:spPr>
      </p:sp>
      <p:sp>
        <p:nvSpPr>
          <p:cNvPr id="21" name="Text 15"/>
          <p:cNvSpPr txBox="1"/>
          <p:nvPr/>
        </p:nvSpPr>
        <p:spPr>
          <a:xfrm>
            <a:off x="3749040" y="5788152"/>
            <a:ext cx="4663440" cy="457200"/>
          </a:xfrm>
          <a:prstGeom prst="rect">
            <a:avLst/>
          </a:prstGeom>
          <a:noFill/>
          <a:ln/>
        </p:spPr>
        <p:txBody>
          <a:bodyPr wrap="square" lIns="0" tIns="0" rIns="0" bIns="0" rtlCol="0" anchor="ctr"/>
          <a:lstStyle/>
          <a:p>
            <a:pPr algn="ctr" indent="0" marL="0">
              <a:buNone/>
            </a:pPr>
            <a:r>
              <a:rPr lang="en-US" sz="1300" b="1" dirty="0">
                <a:solidFill>
                  <a:srgbClr val="1E293B"/>
                </a:solidFill>
                <a:latin typeface="Calibri" pitchFamily="34" charset="0"/>
                <a:ea typeface="Calibri" pitchFamily="34" charset="-122"/>
                <a:cs typeface="Calibri" pitchFamily="34" charset="-120"/>
              </a:rPr>
              <a:t>Built for BNB Hack: Tokenized Stocks Edition</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Covenant</dc:title>
  <dc:subject>PptxGenJS Presentation</dc:subject>
  <dc:creator>Pradyum Mistry</dc:creator>
  <cp:lastModifiedBy>Pradyum Mistry</cp:lastModifiedBy>
  <cp:revision>1</cp:revision>
  <dcterms:created xsi:type="dcterms:W3CDTF">2026-10-02T14:49:48Z</dcterms:created>
  <dcterms:modified xsi:type="dcterms:W3CDTF">2026-10-02T14:49:48Z</dcterms:modified>
</cp:coreProperties>
</file>